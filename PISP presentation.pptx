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embeddedFontLst>
    <p:embeddedFont>
      <p:font typeface="Glock Grotesk" pitchFamily="2" charset="77"/>
      <p:regular r:id="rId17"/>
    </p:embeddedFont>
    <p:embeddedFont>
      <p:font typeface="Work Sans" pitchFamily="2" charset="77"/>
      <p:regular r:id="rId18"/>
      <p:bold r:id="rId19"/>
    </p:embeddedFont>
    <p:embeddedFont>
      <p:font typeface="Work Sans Bold" pitchFamily="2" charset="77"/>
      <p:regular r:id="rId20"/>
      <p:bold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613" autoAdjust="0"/>
  </p:normalViewPr>
  <p:slideViewPr>
    <p:cSldViewPr>
      <p:cViewPr varScale="1">
        <p:scale>
          <a:sx n="71" d="100"/>
          <a:sy n="71" d="100"/>
        </p:scale>
        <p:origin x="664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09.11.2025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"This project implements a 256-bit hash function using the same design principles as SHA-256, but built entirely from scratch to demonstrate deep understanding of cryptographic primitives."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70908">
                <a:alpha val="100000"/>
              </a:srgbClr>
            </a:gs>
            <a:gs pos="33333">
              <a:srgbClr val="29464A">
                <a:alpha val="100000"/>
              </a:srgbClr>
            </a:gs>
            <a:gs pos="66667">
              <a:srgbClr val="6D8080">
                <a:alpha val="100000"/>
              </a:srgbClr>
            </a:gs>
            <a:gs pos="100000">
              <a:srgbClr val="BDCBBB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666413" y="-1073776"/>
            <a:ext cx="6641227" cy="6641227"/>
          </a:xfrm>
          <a:custGeom>
            <a:avLst/>
            <a:gdLst/>
            <a:ahLst/>
            <a:cxnLst/>
            <a:rect l="l" t="t" r="r" b="b"/>
            <a:pathLst>
              <a:path w="6641227" h="6641227">
                <a:moveTo>
                  <a:pt x="0" y="0"/>
                </a:moveTo>
                <a:lnTo>
                  <a:pt x="6641227" y="0"/>
                </a:lnTo>
                <a:lnTo>
                  <a:pt x="6641227" y="6641227"/>
                </a:lnTo>
                <a:lnTo>
                  <a:pt x="0" y="66412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2378182" y="8320934"/>
            <a:ext cx="4881118" cy="1736369"/>
            <a:chOff x="0" y="0"/>
            <a:chExt cx="1285562" cy="45731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85562" cy="457315"/>
            </a:xfrm>
            <a:custGeom>
              <a:avLst/>
              <a:gdLst/>
              <a:ahLst/>
              <a:cxnLst/>
              <a:rect l="l" t="t" r="r" b="b"/>
              <a:pathLst>
                <a:path w="1285562" h="457315">
                  <a:moveTo>
                    <a:pt x="15861" y="0"/>
                  </a:moveTo>
                  <a:lnTo>
                    <a:pt x="1269701" y="0"/>
                  </a:lnTo>
                  <a:cubicBezTo>
                    <a:pt x="1273908" y="0"/>
                    <a:pt x="1277942" y="1671"/>
                    <a:pt x="1280916" y="4646"/>
                  </a:cubicBezTo>
                  <a:cubicBezTo>
                    <a:pt x="1283891" y="7620"/>
                    <a:pt x="1285562" y="11654"/>
                    <a:pt x="1285562" y="15861"/>
                  </a:cubicBezTo>
                  <a:lnTo>
                    <a:pt x="1285562" y="441454"/>
                  </a:lnTo>
                  <a:cubicBezTo>
                    <a:pt x="1285562" y="445661"/>
                    <a:pt x="1283891" y="449695"/>
                    <a:pt x="1280916" y="452670"/>
                  </a:cubicBezTo>
                  <a:cubicBezTo>
                    <a:pt x="1277942" y="455644"/>
                    <a:pt x="1273908" y="457315"/>
                    <a:pt x="1269701" y="457315"/>
                  </a:cubicBezTo>
                  <a:lnTo>
                    <a:pt x="15861" y="457315"/>
                  </a:lnTo>
                  <a:cubicBezTo>
                    <a:pt x="11654" y="457315"/>
                    <a:pt x="7620" y="455644"/>
                    <a:pt x="4646" y="452670"/>
                  </a:cubicBezTo>
                  <a:cubicBezTo>
                    <a:pt x="1671" y="449695"/>
                    <a:pt x="0" y="445661"/>
                    <a:pt x="0" y="441454"/>
                  </a:cubicBezTo>
                  <a:lnTo>
                    <a:pt x="0" y="15861"/>
                  </a:lnTo>
                  <a:cubicBezTo>
                    <a:pt x="0" y="11654"/>
                    <a:pt x="1671" y="7620"/>
                    <a:pt x="4646" y="4646"/>
                  </a:cubicBezTo>
                  <a:cubicBezTo>
                    <a:pt x="7620" y="1671"/>
                    <a:pt x="11654" y="0"/>
                    <a:pt x="15861" y="0"/>
                  </a:cubicBezTo>
                  <a:close/>
                </a:path>
              </a:pathLst>
            </a:custGeom>
            <a:solidFill>
              <a:srgbClr val="FFFFFF">
                <a:alpha val="29804"/>
              </a:srgbClr>
            </a:solidFill>
            <a:ln w="9525" cap="sq">
              <a:solidFill>
                <a:srgbClr val="9EB49F">
                  <a:alpha val="2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1285562" cy="5335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4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028700" y="346028"/>
            <a:ext cx="2854052" cy="3801619"/>
          </a:xfrm>
          <a:custGeom>
            <a:avLst/>
            <a:gdLst/>
            <a:ahLst/>
            <a:cxnLst/>
            <a:rect l="l" t="t" r="r" b="b"/>
            <a:pathLst>
              <a:path w="2854052" h="3801619">
                <a:moveTo>
                  <a:pt x="0" y="0"/>
                </a:moveTo>
                <a:lnTo>
                  <a:pt x="2854052" y="0"/>
                </a:lnTo>
                <a:lnTo>
                  <a:pt x="2854052" y="3801619"/>
                </a:lnTo>
                <a:lnTo>
                  <a:pt x="0" y="38016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028700" y="5065877"/>
            <a:ext cx="12401495" cy="3004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70"/>
              </a:lnSpc>
            </a:pPr>
            <a:r>
              <a:rPr lang="en-US" sz="9500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CUSTOM HASH </a:t>
            </a:r>
          </a:p>
          <a:p>
            <a:pPr algn="l">
              <a:lnSpc>
                <a:spcPts val="11970"/>
              </a:lnSpc>
            </a:pPr>
            <a:r>
              <a:rPr lang="en-US" sz="9500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FUNCTION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8430525"/>
            <a:ext cx="11349482" cy="1270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SimpleHash256</a:t>
            </a:r>
          </a:p>
          <a:p>
            <a:pPr algn="l">
              <a:lnSpc>
                <a:spcPts val="5040"/>
              </a:lnSpc>
              <a:spcBef>
                <a:spcPct val="0"/>
              </a:spcBef>
            </a:pPr>
            <a:endParaRPr lang="en-US" sz="3600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2959239" y="8421000"/>
            <a:ext cx="3719003" cy="1481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NAGA SRI HARSHA VARDHAN KANAPARTHI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70908">
                <a:alpha val="100000"/>
              </a:srgbClr>
            </a:gs>
            <a:gs pos="50000">
              <a:srgbClr val="29464A">
                <a:alpha val="100000"/>
              </a:srgbClr>
            </a:gs>
            <a:gs pos="100000">
              <a:srgbClr val="6D808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10860551" y="4732669"/>
            <a:ext cx="7744260" cy="7110638"/>
          </a:xfrm>
          <a:custGeom>
            <a:avLst/>
            <a:gdLst/>
            <a:ahLst/>
            <a:cxnLst/>
            <a:rect l="l" t="t" r="r" b="b"/>
            <a:pathLst>
              <a:path w="7744260" h="7110638">
                <a:moveTo>
                  <a:pt x="0" y="0"/>
                </a:moveTo>
                <a:lnTo>
                  <a:pt x="7744260" y="0"/>
                </a:lnTo>
                <a:lnTo>
                  <a:pt x="7744260" y="7110638"/>
                </a:lnTo>
                <a:lnTo>
                  <a:pt x="0" y="71106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3114358"/>
            <a:ext cx="13012114" cy="1685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To Implement a cryptographic hash function from scratch without using</a:t>
            </a: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any external cryptographic libraries</a:t>
            </a:r>
          </a:p>
          <a:p>
            <a:pPr algn="l">
              <a:lnSpc>
                <a:spcPts val="3359"/>
              </a:lnSpc>
            </a:pPr>
            <a:endParaRPr lang="en-US" sz="2799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algn="l">
              <a:lnSpc>
                <a:spcPts val="3359"/>
              </a:lnSpc>
            </a:pPr>
            <a:endParaRPr lang="en-US" sz="2799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28700" y="1594324"/>
            <a:ext cx="12235206" cy="990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800"/>
              </a:lnSpc>
              <a:spcBef>
                <a:spcPct val="0"/>
              </a:spcBef>
            </a:pPr>
            <a:r>
              <a:rPr lang="en-US" sz="6500" spc="-273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Project Goal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4790758"/>
            <a:ext cx="13012114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Key Feature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5801954"/>
            <a:ext cx="13012114" cy="1685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256-bit fixed output (64 hex characters)</a:t>
            </a: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Merkle-Damgård construction</a:t>
            </a: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64 rounds of compression per block</a:t>
            </a: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Pure Python implementation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70908">
                <a:alpha val="100000"/>
              </a:srgbClr>
            </a:gs>
            <a:gs pos="50000">
              <a:srgbClr val="29464A">
                <a:alpha val="100000"/>
              </a:srgbClr>
            </a:gs>
            <a:gs pos="100000">
              <a:srgbClr val="6D808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10860551" y="4732669"/>
            <a:ext cx="7744260" cy="7110638"/>
          </a:xfrm>
          <a:custGeom>
            <a:avLst/>
            <a:gdLst/>
            <a:ahLst/>
            <a:cxnLst/>
            <a:rect l="l" t="t" r="r" b="b"/>
            <a:pathLst>
              <a:path w="7744260" h="7110638">
                <a:moveTo>
                  <a:pt x="0" y="0"/>
                </a:moveTo>
                <a:lnTo>
                  <a:pt x="7744260" y="0"/>
                </a:lnTo>
                <a:lnTo>
                  <a:pt x="7744260" y="7110638"/>
                </a:lnTo>
                <a:lnTo>
                  <a:pt x="0" y="71106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4152900"/>
            <a:ext cx="12235206" cy="1981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800"/>
              </a:lnSpc>
              <a:spcBef>
                <a:spcPct val="0"/>
              </a:spcBef>
            </a:pPr>
            <a:r>
              <a:rPr lang="en-US" sz="6500" spc="-273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What is Hash Function?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70908">
                <a:alpha val="100000"/>
              </a:srgbClr>
            </a:gs>
            <a:gs pos="33333">
              <a:srgbClr val="29464A">
                <a:alpha val="100000"/>
              </a:srgbClr>
            </a:gs>
            <a:gs pos="66667">
              <a:srgbClr val="6D8080">
                <a:alpha val="100000"/>
              </a:srgbClr>
            </a:gs>
            <a:gs pos="100000">
              <a:srgbClr val="B9C8B6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87787" y="1304162"/>
            <a:ext cx="15112426" cy="990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800"/>
              </a:lnSpc>
              <a:spcBef>
                <a:spcPct val="0"/>
              </a:spcBef>
            </a:pPr>
            <a:r>
              <a:rPr lang="en-US" sz="6500" spc="-273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EXAMPLE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859214" y="2685549"/>
            <a:ext cx="6569571" cy="6105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b="1" spc="-84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┌─────────────────┐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b="1" spc="-84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│   Input Data    │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b="1" spc="-84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│  (Any Size)     │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b="1" spc="-84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└────────┬────────┘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b="1" spc="-84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         │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b="1" spc="-84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         ▼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b="1" spc="-84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┌─────────────────────────┐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b="1" spc="-84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│   SimpleHash256         │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b="1" spc="-84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│   Hash Function         │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b="1" spc="-84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│                         │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b="1" spc="-84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│   • Merkle-Damgård      │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b="1" spc="-84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│   • 64 Rounds           │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b="1" spc="-84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│   • 256-bit Output      │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b="1" spc="-84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└────────┬────────────────┘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b="1" spc="-84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         │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b="1" spc="-84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         ▼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b="1" spc="-84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┌─────────────────┐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b="1" spc="-84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│  256-bit Hash   │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b="1" spc="-84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│  (64 hex chars) │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b="1" spc="-84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└─────────────────┘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70908">
                <a:alpha val="100000"/>
              </a:srgbClr>
            </a:gs>
            <a:gs pos="33333">
              <a:srgbClr val="29464A">
                <a:alpha val="100000"/>
              </a:srgbClr>
            </a:gs>
            <a:gs pos="66667">
              <a:srgbClr val="6D8080">
                <a:alpha val="100000"/>
              </a:srgbClr>
            </a:gs>
            <a:gs pos="100000">
              <a:srgbClr val="B9C8B6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87787" y="2128359"/>
            <a:ext cx="7344348" cy="2419350"/>
            <a:chOff x="0" y="0"/>
            <a:chExt cx="1934314" cy="6371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34314" cy="637195"/>
            </a:xfrm>
            <a:custGeom>
              <a:avLst/>
              <a:gdLst/>
              <a:ahLst/>
              <a:cxnLst/>
              <a:rect l="l" t="t" r="r" b="b"/>
              <a:pathLst>
                <a:path w="1934314" h="637195">
                  <a:moveTo>
                    <a:pt x="10541" y="0"/>
                  </a:moveTo>
                  <a:lnTo>
                    <a:pt x="1923772" y="0"/>
                  </a:lnTo>
                  <a:cubicBezTo>
                    <a:pt x="1926568" y="0"/>
                    <a:pt x="1929249" y="1111"/>
                    <a:pt x="1931226" y="3087"/>
                  </a:cubicBezTo>
                  <a:cubicBezTo>
                    <a:pt x="1933203" y="5064"/>
                    <a:pt x="1934314" y="7746"/>
                    <a:pt x="1934314" y="10541"/>
                  </a:cubicBezTo>
                  <a:lnTo>
                    <a:pt x="1934314" y="626654"/>
                  </a:lnTo>
                  <a:cubicBezTo>
                    <a:pt x="1934314" y="629449"/>
                    <a:pt x="1933203" y="632131"/>
                    <a:pt x="1931226" y="634108"/>
                  </a:cubicBezTo>
                  <a:cubicBezTo>
                    <a:pt x="1929249" y="636084"/>
                    <a:pt x="1926568" y="637195"/>
                    <a:pt x="1923772" y="637195"/>
                  </a:cubicBezTo>
                  <a:lnTo>
                    <a:pt x="10541" y="637195"/>
                  </a:lnTo>
                  <a:cubicBezTo>
                    <a:pt x="7746" y="637195"/>
                    <a:pt x="5064" y="636084"/>
                    <a:pt x="3087" y="634108"/>
                  </a:cubicBezTo>
                  <a:cubicBezTo>
                    <a:pt x="1111" y="632131"/>
                    <a:pt x="0" y="629449"/>
                    <a:pt x="0" y="626654"/>
                  </a:cubicBezTo>
                  <a:lnTo>
                    <a:pt x="0" y="10541"/>
                  </a:lnTo>
                  <a:cubicBezTo>
                    <a:pt x="0" y="7746"/>
                    <a:pt x="1111" y="5064"/>
                    <a:pt x="3087" y="3087"/>
                  </a:cubicBezTo>
                  <a:cubicBezTo>
                    <a:pt x="5064" y="1111"/>
                    <a:pt x="7746" y="0"/>
                    <a:pt x="10541" y="0"/>
                  </a:cubicBezTo>
                  <a:close/>
                </a:path>
              </a:pathLst>
            </a:custGeom>
            <a:solidFill>
              <a:srgbClr val="FFFFFF">
                <a:alpha val="29804"/>
              </a:srgbClr>
            </a:solidFill>
            <a:ln w="9525" cap="sq">
              <a:solidFill>
                <a:srgbClr val="9EB49F">
                  <a:alpha val="2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1934314" cy="7133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4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587787" y="808862"/>
            <a:ext cx="15112426" cy="1981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00"/>
              </a:lnSpc>
            </a:pPr>
            <a:r>
              <a:rPr lang="en-US" sz="6500" spc="-273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HASH FUNCTION PROPERTIES</a:t>
            </a:r>
          </a:p>
          <a:p>
            <a:pPr marL="0" lvl="0" indent="0" algn="ctr">
              <a:lnSpc>
                <a:spcPts val="7800"/>
              </a:lnSpc>
              <a:spcBef>
                <a:spcPct val="0"/>
              </a:spcBef>
            </a:pPr>
            <a:endParaRPr lang="en-US" sz="6500" spc="-273">
              <a:solidFill>
                <a:srgbClr val="FFFFFF"/>
              </a:solidFill>
              <a:latin typeface="Glock Grotesk"/>
              <a:ea typeface="Glock Grotesk"/>
              <a:cs typeface="Glock Grotesk"/>
              <a:sym typeface="Glock Grotesk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2078785" y="2857338"/>
            <a:ext cx="6362353" cy="987809"/>
            <a:chOff x="0" y="0"/>
            <a:chExt cx="8483137" cy="1317078"/>
          </a:xfrm>
        </p:grpSpPr>
        <p:sp>
          <p:nvSpPr>
            <p:cNvPr id="7" name="TextBox 7"/>
            <p:cNvSpPr txBox="1"/>
            <p:nvPr/>
          </p:nvSpPr>
          <p:spPr>
            <a:xfrm>
              <a:off x="0" y="-76200"/>
              <a:ext cx="8483137" cy="7171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79"/>
                </a:lnSpc>
                <a:spcBef>
                  <a:spcPct val="0"/>
                </a:spcBef>
              </a:pPr>
              <a:r>
                <a:rPr lang="en-US" sz="3199" b="1">
                  <a:solidFill>
                    <a:srgbClr val="FFFFFF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DETERMINISTIC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782408"/>
              <a:ext cx="8483137" cy="534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Same input → Always same output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355865" y="2141568"/>
            <a:ext cx="7344348" cy="2419350"/>
            <a:chOff x="0" y="0"/>
            <a:chExt cx="1934314" cy="63719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34314" cy="637195"/>
            </a:xfrm>
            <a:custGeom>
              <a:avLst/>
              <a:gdLst/>
              <a:ahLst/>
              <a:cxnLst/>
              <a:rect l="l" t="t" r="r" b="b"/>
              <a:pathLst>
                <a:path w="1934314" h="637195">
                  <a:moveTo>
                    <a:pt x="10541" y="0"/>
                  </a:moveTo>
                  <a:lnTo>
                    <a:pt x="1923772" y="0"/>
                  </a:lnTo>
                  <a:cubicBezTo>
                    <a:pt x="1926568" y="0"/>
                    <a:pt x="1929249" y="1111"/>
                    <a:pt x="1931226" y="3087"/>
                  </a:cubicBezTo>
                  <a:cubicBezTo>
                    <a:pt x="1933203" y="5064"/>
                    <a:pt x="1934314" y="7746"/>
                    <a:pt x="1934314" y="10541"/>
                  </a:cubicBezTo>
                  <a:lnTo>
                    <a:pt x="1934314" y="626654"/>
                  </a:lnTo>
                  <a:cubicBezTo>
                    <a:pt x="1934314" y="629449"/>
                    <a:pt x="1933203" y="632131"/>
                    <a:pt x="1931226" y="634108"/>
                  </a:cubicBezTo>
                  <a:cubicBezTo>
                    <a:pt x="1929249" y="636084"/>
                    <a:pt x="1926568" y="637195"/>
                    <a:pt x="1923772" y="637195"/>
                  </a:cubicBezTo>
                  <a:lnTo>
                    <a:pt x="10541" y="637195"/>
                  </a:lnTo>
                  <a:cubicBezTo>
                    <a:pt x="7746" y="637195"/>
                    <a:pt x="5064" y="636084"/>
                    <a:pt x="3087" y="634108"/>
                  </a:cubicBezTo>
                  <a:cubicBezTo>
                    <a:pt x="1111" y="632131"/>
                    <a:pt x="0" y="629449"/>
                    <a:pt x="0" y="626654"/>
                  </a:cubicBezTo>
                  <a:lnTo>
                    <a:pt x="0" y="10541"/>
                  </a:lnTo>
                  <a:cubicBezTo>
                    <a:pt x="0" y="7746"/>
                    <a:pt x="1111" y="5064"/>
                    <a:pt x="3087" y="3087"/>
                  </a:cubicBezTo>
                  <a:cubicBezTo>
                    <a:pt x="5064" y="1111"/>
                    <a:pt x="7746" y="0"/>
                    <a:pt x="10541" y="0"/>
                  </a:cubicBezTo>
                  <a:close/>
                </a:path>
              </a:pathLst>
            </a:custGeom>
            <a:solidFill>
              <a:srgbClr val="FFFFFF">
                <a:alpha val="29804"/>
              </a:srgbClr>
            </a:solidFill>
            <a:ln w="9525" cap="sq">
              <a:solidFill>
                <a:srgbClr val="9EB49F">
                  <a:alpha val="2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76200"/>
              <a:ext cx="1934314" cy="7133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47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846862" y="2870547"/>
            <a:ext cx="6362353" cy="987809"/>
            <a:chOff x="0" y="0"/>
            <a:chExt cx="8483137" cy="1317078"/>
          </a:xfrm>
        </p:grpSpPr>
        <p:sp>
          <p:nvSpPr>
            <p:cNvPr id="13" name="TextBox 13"/>
            <p:cNvSpPr txBox="1"/>
            <p:nvPr/>
          </p:nvSpPr>
          <p:spPr>
            <a:xfrm>
              <a:off x="0" y="-76200"/>
              <a:ext cx="8483137" cy="7171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79"/>
                </a:lnSpc>
                <a:spcBef>
                  <a:spcPct val="0"/>
                </a:spcBef>
              </a:pPr>
              <a:r>
                <a:rPr lang="en-US" sz="3199" b="1">
                  <a:solidFill>
                    <a:srgbClr val="FFFFFF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FIXED OUTPUT LENGTH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782408"/>
              <a:ext cx="8483137" cy="534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Always 256 bits regardless of input size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587787" y="5083123"/>
            <a:ext cx="7344348" cy="2419350"/>
            <a:chOff x="0" y="0"/>
            <a:chExt cx="1934314" cy="63719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934314" cy="637195"/>
            </a:xfrm>
            <a:custGeom>
              <a:avLst/>
              <a:gdLst/>
              <a:ahLst/>
              <a:cxnLst/>
              <a:rect l="l" t="t" r="r" b="b"/>
              <a:pathLst>
                <a:path w="1934314" h="637195">
                  <a:moveTo>
                    <a:pt x="10541" y="0"/>
                  </a:moveTo>
                  <a:lnTo>
                    <a:pt x="1923772" y="0"/>
                  </a:lnTo>
                  <a:cubicBezTo>
                    <a:pt x="1926568" y="0"/>
                    <a:pt x="1929249" y="1111"/>
                    <a:pt x="1931226" y="3087"/>
                  </a:cubicBezTo>
                  <a:cubicBezTo>
                    <a:pt x="1933203" y="5064"/>
                    <a:pt x="1934314" y="7746"/>
                    <a:pt x="1934314" y="10541"/>
                  </a:cubicBezTo>
                  <a:lnTo>
                    <a:pt x="1934314" y="626654"/>
                  </a:lnTo>
                  <a:cubicBezTo>
                    <a:pt x="1934314" y="629449"/>
                    <a:pt x="1933203" y="632131"/>
                    <a:pt x="1931226" y="634108"/>
                  </a:cubicBezTo>
                  <a:cubicBezTo>
                    <a:pt x="1929249" y="636084"/>
                    <a:pt x="1926568" y="637195"/>
                    <a:pt x="1923772" y="637195"/>
                  </a:cubicBezTo>
                  <a:lnTo>
                    <a:pt x="10541" y="637195"/>
                  </a:lnTo>
                  <a:cubicBezTo>
                    <a:pt x="7746" y="637195"/>
                    <a:pt x="5064" y="636084"/>
                    <a:pt x="3087" y="634108"/>
                  </a:cubicBezTo>
                  <a:cubicBezTo>
                    <a:pt x="1111" y="632131"/>
                    <a:pt x="0" y="629449"/>
                    <a:pt x="0" y="626654"/>
                  </a:cubicBezTo>
                  <a:lnTo>
                    <a:pt x="0" y="10541"/>
                  </a:lnTo>
                  <a:cubicBezTo>
                    <a:pt x="0" y="7746"/>
                    <a:pt x="1111" y="5064"/>
                    <a:pt x="3087" y="3087"/>
                  </a:cubicBezTo>
                  <a:cubicBezTo>
                    <a:pt x="5064" y="1111"/>
                    <a:pt x="7746" y="0"/>
                    <a:pt x="10541" y="0"/>
                  </a:cubicBezTo>
                  <a:close/>
                </a:path>
              </a:pathLst>
            </a:custGeom>
            <a:solidFill>
              <a:srgbClr val="FFFFFF">
                <a:alpha val="29804"/>
              </a:srgbClr>
            </a:solidFill>
            <a:ln w="9525" cap="sq">
              <a:solidFill>
                <a:srgbClr val="9EB49F">
                  <a:alpha val="2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76200"/>
              <a:ext cx="1934314" cy="7133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47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078785" y="5602553"/>
            <a:ext cx="6362353" cy="1406909"/>
            <a:chOff x="0" y="0"/>
            <a:chExt cx="8483137" cy="1875878"/>
          </a:xfrm>
        </p:grpSpPr>
        <p:sp>
          <p:nvSpPr>
            <p:cNvPr id="19" name="TextBox 19"/>
            <p:cNvSpPr txBox="1"/>
            <p:nvPr/>
          </p:nvSpPr>
          <p:spPr>
            <a:xfrm>
              <a:off x="0" y="-76200"/>
              <a:ext cx="8483137" cy="7171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79"/>
                </a:lnSpc>
                <a:spcBef>
                  <a:spcPct val="0"/>
                </a:spcBef>
              </a:pPr>
              <a:r>
                <a:rPr lang="en-US" sz="3199" b="1">
                  <a:solidFill>
                    <a:srgbClr val="FFFFFF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AVALANCHE EFFECT 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782408"/>
              <a:ext cx="8483137" cy="10934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Small input change → Large output change (~50% bits flip)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355865" y="5083123"/>
            <a:ext cx="7344348" cy="2419350"/>
            <a:chOff x="0" y="0"/>
            <a:chExt cx="1934314" cy="63719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934314" cy="637195"/>
            </a:xfrm>
            <a:custGeom>
              <a:avLst/>
              <a:gdLst/>
              <a:ahLst/>
              <a:cxnLst/>
              <a:rect l="l" t="t" r="r" b="b"/>
              <a:pathLst>
                <a:path w="1934314" h="637195">
                  <a:moveTo>
                    <a:pt x="10541" y="0"/>
                  </a:moveTo>
                  <a:lnTo>
                    <a:pt x="1923772" y="0"/>
                  </a:lnTo>
                  <a:cubicBezTo>
                    <a:pt x="1926568" y="0"/>
                    <a:pt x="1929249" y="1111"/>
                    <a:pt x="1931226" y="3087"/>
                  </a:cubicBezTo>
                  <a:cubicBezTo>
                    <a:pt x="1933203" y="5064"/>
                    <a:pt x="1934314" y="7746"/>
                    <a:pt x="1934314" y="10541"/>
                  </a:cubicBezTo>
                  <a:lnTo>
                    <a:pt x="1934314" y="626654"/>
                  </a:lnTo>
                  <a:cubicBezTo>
                    <a:pt x="1934314" y="629449"/>
                    <a:pt x="1933203" y="632131"/>
                    <a:pt x="1931226" y="634108"/>
                  </a:cubicBezTo>
                  <a:cubicBezTo>
                    <a:pt x="1929249" y="636084"/>
                    <a:pt x="1926568" y="637195"/>
                    <a:pt x="1923772" y="637195"/>
                  </a:cubicBezTo>
                  <a:lnTo>
                    <a:pt x="10541" y="637195"/>
                  </a:lnTo>
                  <a:cubicBezTo>
                    <a:pt x="7746" y="637195"/>
                    <a:pt x="5064" y="636084"/>
                    <a:pt x="3087" y="634108"/>
                  </a:cubicBezTo>
                  <a:cubicBezTo>
                    <a:pt x="1111" y="632131"/>
                    <a:pt x="0" y="629449"/>
                    <a:pt x="0" y="626654"/>
                  </a:cubicBezTo>
                  <a:lnTo>
                    <a:pt x="0" y="10541"/>
                  </a:lnTo>
                  <a:cubicBezTo>
                    <a:pt x="0" y="7746"/>
                    <a:pt x="1111" y="5064"/>
                    <a:pt x="3087" y="3087"/>
                  </a:cubicBezTo>
                  <a:cubicBezTo>
                    <a:pt x="5064" y="1111"/>
                    <a:pt x="7746" y="0"/>
                    <a:pt x="10541" y="0"/>
                  </a:cubicBezTo>
                  <a:close/>
                </a:path>
              </a:pathLst>
            </a:custGeom>
            <a:solidFill>
              <a:srgbClr val="FFFFFF">
                <a:alpha val="29804"/>
              </a:srgbClr>
            </a:solidFill>
            <a:ln w="9525" cap="sq">
              <a:solidFill>
                <a:srgbClr val="9EB49F">
                  <a:alpha val="2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76200"/>
              <a:ext cx="1934314" cy="7133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47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846862" y="5602553"/>
            <a:ext cx="6362353" cy="1406909"/>
            <a:chOff x="0" y="0"/>
            <a:chExt cx="8483137" cy="1875878"/>
          </a:xfrm>
        </p:grpSpPr>
        <p:sp>
          <p:nvSpPr>
            <p:cNvPr id="25" name="TextBox 25"/>
            <p:cNvSpPr txBox="1"/>
            <p:nvPr/>
          </p:nvSpPr>
          <p:spPr>
            <a:xfrm>
              <a:off x="0" y="-76200"/>
              <a:ext cx="8483137" cy="7171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79"/>
                </a:lnSpc>
                <a:spcBef>
                  <a:spcPct val="0"/>
                </a:spcBef>
              </a:pPr>
              <a:r>
                <a:rPr lang="en-US" sz="3199" b="1">
                  <a:solidFill>
                    <a:srgbClr val="FFFFFF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COLLISION RESISTANCE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782408"/>
              <a:ext cx="8483137" cy="10934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Virtually impossible for two different inputs to produce same hash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259961" y="7743825"/>
            <a:ext cx="7344348" cy="2419350"/>
            <a:chOff x="0" y="0"/>
            <a:chExt cx="1934314" cy="637195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934314" cy="637195"/>
            </a:xfrm>
            <a:custGeom>
              <a:avLst/>
              <a:gdLst/>
              <a:ahLst/>
              <a:cxnLst/>
              <a:rect l="l" t="t" r="r" b="b"/>
              <a:pathLst>
                <a:path w="1934314" h="637195">
                  <a:moveTo>
                    <a:pt x="10541" y="0"/>
                  </a:moveTo>
                  <a:lnTo>
                    <a:pt x="1923772" y="0"/>
                  </a:lnTo>
                  <a:cubicBezTo>
                    <a:pt x="1926568" y="0"/>
                    <a:pt x="1929249" y="1111"/>
                    <a:pt x="1931226" y="3087"/>
                  </a:cubicBezTo>
                  <a:cubicBezTo>
                    <a:pt x="1933203" y="5064"/>
                    <a:pt x="1934314" y="7746"/>
                    <a:pt x="1934314" y="10541"/>
                  </a:cubicBezTo>
                  <a:lnTo>
                    <a:pt x="1934314" y="626654"/>
                  </a:lnTo>
                  <a:cubicBezTo>
                    <a:pt x="1934314" y="629449"/>
                    <a:pt x="1933203" y="632131"/>
                    <a:pt x="1931226" y="634108"/>
                  </a:cubicBezTo>
                  <a:cubicBezTo>
                    <a:pt x="1929249" y="636084"/>
                    <a:pt x="1926568" y="637195"/>
                    <a:pt x="1923772" y="637195"/>
                  </a:cubicBezTo>
                  <a:lnTo>
                    <a:pt x="10541" y="637195"/>
                  </a:lnTo>
                  <a:cubicBezTo>
                    <a:pt x="7746" y="637195"/>
                    <a:pt x="5064" y="636084"/>
                    <a:pt x="3087" y="634108"/>
                  </a:cubicBezTo>
                  <a:cubicBezTo>
                    <a:pt x="1111" y="632131"/>
                    <a:pt x="0" y="629449"/>
                    <a:pt x="0" y="626654"/>
                  </a:cubicBezTo>
                  <a:lnTo>
                    <a:pt x="0" y="10541"/>
                  </a:lnTo>
                  <a:cubicBezTo>
                    <a:pt x="0" y="7746"/>
                    <a:pt x="1111" y="5064"/>
                    <a:pt x="3087" y="3087"/>
                  </a:cubicBezTo>
                  <a:cubicBezTo>
                    <a:pt x="5064" y="1111"/>
                    <a:pt x="7746" y="0"/>
                    <a:pt x="10541" y="0"/>
                  </a:cubicBezTo>
                  <a:close/>
                </a:path>
              </a:pathLst>
            </a:custGeom>
            <a:solidFill>
              <a:srgbClr val="FFFFFF">
                <a:alpha val="29804"/>
              </a:srgbClr>
            </a:solidFill>
            <a:ln w="9525" cap="sq">
              <a:solidFill>
                <a:srgbClr val="9EB49F">
                  <a:alpha val="2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76200"/>
              <a:ext cx="1934314" cy="7133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47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750959" y="8250046"/>
            <a:ext cx="6362353" cy="1406909"/>
            <a:chOff x="0" y="0"/>
            <a:chExt cx="8483137" cy="1875878"/>
          </a:xfrm>
        </p:grpSpPr>
        <p:sp>
          <p:nvSpPr>
            <p:cNvPr id="31" name="TextBox 31"/>
            <p:cNvSpPr txBox="1"/>
            <p:nvPr/>
          </p:nvSpPr>
          <p:spPr>
            <a:xfrm>
              <a:off x="0" y="-76200"/>
              <a:ext cx="8483137" cy="7171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79"/>
                </a:lnSpc>
                <a:spcBef>
                  <a:spcPct val="0"/>
                </a:spcBef>
              </a:pPr>
              <a:r>
                <a:rPr lang="en-US" sz="3199" b="1">
                  <a:solidFill>
                    <a:srgbClr val="FFFFFF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ONE-WAY FUNCTION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782408"/>
              <a:ext cx="8483137" cy="10934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Cannot reverse hash to find original input</a:t>
              </a:r>
            </a:p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endParaRPr lang="en-US" sz="24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70908">
                <a:alpha val="100000"/>
              </a:srgbClr>
            </a:gs>
            <a:gs pos="33333">
              <a:srgbClr val="29464A">
                <a:alpha val="100000"/>
              </a:srgbClr>
            </a:gs>
            <a:gs pos="66667">
              <a:srgbClr val="6D8080">
                <a:alpha val="100000"/>
              </a:srgbClr>
            </a:gs>
            <a:gs pos="100000">
              <a:srgbClr val="B9C8B6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87787" y="313562"/>
            <a:ext cx="15112426" cy="297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00"/>
              </a:lnSpc>
            </a:pPr>
            <a:r>
              <a:rPr lang="en-US" sz="6500" spc="-273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MERKLE-DAMGÅRD CONSTRUCTION</a:t>
            </a:r>
          </a:p>
          <a:p>
            <a:pPr marL="0" lvl="0" indent="0" algn="ctr">
              <a:lnSpc>
                <a:spcPts val="7800"/>
              </a:lnSpc>
              <a:spcBef>
                <a:spcPct val="0"/>
              </a:spcBef>
            </a:pPr>
            <a:endParaRPr lang="en-US" sz="6500" spc="-273">
              <a:solidFill>
                <a:srgbClr val="FFFFFF"/>
              </a:solidFill>
              <a:latin typeface="Glock Grotesk"/>
              <a:ea typeface="Glock Grotesk"/>
              <a:cs typeface="Glock Grotesk"/>
              <a:sym typeface="Glock Grotesk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-259028" y="3275837"/>
            <a:ext cx="9882199" cy="620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9"/>
              </a:lnSpc>
              <a:spcBef>
                <a:spcPct val="0"/>
              </a:spcBef>
            </a:pPr>
            <a:r>
              <a:rPr lang="en-US" sz="1599" spc="-67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STEP 1: INITIALIZATION</a:t>
            </a:r>
          </a:p>
          <a:p>
            <a:pPr algn="ctr">
              <a:lnSpc>
                <a:spcPts val="1919"/>
              </a:lnSpc>
              <a:spcBef>
                <a:spcPct val="0"/>
              </a:spcBef>
            </a:pPr>
            <a:r>
              <a:rPr lang="en-US" sz="1599" spc="-67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┌──────────────────────────────────────┐</a:t>
            </a:r>
          </a:p>
          <a:p>
            <a:pPr algn="ctr">
              <a:lnSpc>
                <a:spcPts val="1919"/>
              </a:lnSpc>
              <a:spcBef>
                <a:spcPct val="0"/>
              </a:spcBef>
            </a:pPr>
            <a:r>
              <a:rPr lang="en-US" sz="1599" spc="-67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│   Initial Hash Values (Constants)   │</a:t>
            </a:r>
          </a:p>
          <a:p>
            <a:pPr algn="ctr">
              <a:lnSpc>
                <a:spcPts val="1919"/>
              </a:lnSpc>
              <a:spcBef>
                <a:spcPct val="0"/>
              </a:spcBef>
            </a:pPr>
            <a:r>
              <a:rPr lang="en-US" sz="1599" spc="-67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│                                      │</a:t>
            </a:r>
          </a:p>
          <a:p>
            <a:pPr algn="ctr">
              <a:lnSpc>
                <a:spcPts val="1919"/>
              </a:lnSpc>
              <a:spcBef>
                <a:spcPct val="0"/>
              </a:spcBef>
            </a:pPr>
            <a:r>
              <a:rPr lang="en-US" sz="1599" spc="-67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│   H₀ = 0x6a09e667                   │</a:t>
            </a:r>
          </a:p>
          <a:p>
            <a:pPr algn="ctr">
              <a:lnSpc>
                <a:spcPts val="1919"/>
              </a:lnSpc>
              <a:spcBef>
                <a:spcPct val="0"/>
              </a:spcBef>
            </a:pPr>
            <a:r>
              <a:rPr lang="en-US" sz="1599" spc="-67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│   H₁ = 0xbb67ae85                   │</a:t>
            </a:r>
          </a:p>
          <a:p>
            <a:pPr algn="ctr">
              <a:lnSpc>
                <a:spcPts val="1919"/>
              </a:lnSpc>
              <a:spcBef>
                <a:spcPct val="0"/>
              </a:spcBef>
            </a:pPr>
            <a:r>
              <a:rPr lang="en-US" sz="1599" spc="-67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│   H₂ = 0x3c6ef372                   │</a:t>
            </a:r>
          </a:p>
          <a:p>
            <a:pPr algn="ctr">
              <a:lnSpc>
                <a:spcPts val="1919"/>
              </a:lnSpc>
              <a:spcBef>
                <a:spcPct val="0"/>
              </a:spcBef>
            </a:pPr>
            <a:r>
              <a:rPr lang="en-US" sz="1599" spc="-67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│   ... (8 values total)               │</a:t>
            </a:r>
          </a:p>
          <a:p>
            <a:pPr algn="ctr">
              <a:lnSpc>
                <a:spcPts val="1919"/>
              </a:lnSpc>
              <a:spcBef>
                <a:spcPct val="0"/>
              </a:spcBef>
            </a:pPr>
            <a:r>
              <a:rPr lang="en-US" sz="1599" spc="-67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└──────────────────────────────────────┘</a:t>
            </a:r>
          </a:p>
          <a:p>
            <a:pPr algn="ctr">
              <a:lnSpc>
                <a:spcPts val="1919"/>
              </a:lnSpc>
              <a:spcBef>
                <a:spcPct val="0"/>
              </a:spcBef>
            </a:pPr>
            <a:r>
              <a:rPr lang="en-US" sz="1599" spc="-67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                 │</a:t>
            </a:r>
          </a:p>
          <a:p>
            <a:pPr algn="ctr">
              <a:lnSpc>
                <a:spcPts val="1919"/>
              </a:lnSpc>
              <a:spcBef>
                <a:spcPct val="0"/>
              </a:spcBef>
            </a:pPr>
            <a:r>
              <a:rPr lang="en-US" sz="1599" spc="-67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                 ▼</a:t>
            </a:r>
          </a:p>
          <a:p>
            <a:pPr algn="ctr">
              <a:lnSpc>
                <a:spcPts val="1919"/>
              </a:lnSpc>
              <a:spcBef>
                <a:spcPct val="0"/>
              </a:spcBef>
            </a:pPr>
            <a:r>
              <a:rPr lang="en-US" sz="1599" spc="-67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STEP 2: MESSAGE PADDING</a:t>
            </a:r>
          </a:p>
          <a:p>
            <a:pPr algn="ctr">
              <a:lnSpc>
                <a:spcPts val="1919"/>
              </a:lnSpc>
              <a:spcBef>
                <a:spcPct val="0"/>
              </a:spcBef>
            </a:pPr>
            <a:r>
              <a:rPr lang="en-US" sz="1599" spc="-67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┌──────────────────────────────────────┐</a:t>
            </a:r>
          </a:p>
          <a:p>
            <a:pPr algn="ctr">
              <a:lnSpc>
                <a:spcPts val="1919"/>
              </a:lnSpc>
              <a:spcBef>
                <a:spcPct val="0"/>
              </a:spcBef>
            </a:pPr>
            <a:r>
              <a:rPr lang="en-US" sz="1599" spc="-67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│ Original Message                     │</a:t>
            </a:r>
          </a:p>
          <a:p>
            <a:pPr algn="ctr">
              <a:lnSpc>
                <a:spcPts val="1919"/>
              </a:lnSpc>
              <a:spcBef>
                <a:spcPct val="0"/>
              </a:spcBef>
            </a:pPr>
            <a:r>
              <a:rPr lang="en-US" sz="1599" spc="-67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│ "Hello" → 48 65 6C 6C 6F             │</a:t>
            </a:r>
          </a:p>
          <a:p>
            <a:pPr algn="ctr">
              <a:lnSpc>
                <a:spcPts val="1919"/>
              </a:lnSpc>
              <a:spcBef>
                <a:spcPct val="0"/>
              </a:spcBef>
            </a:pPr>
            <a:r>
              <a:rPr lang="en-US" sz="1599" spc="-67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└──────────────────────────────────────┘</a:t>
            </a:r>
          </a:p>
          <a:p>
            <a:pPr algn="ctr">
              <a:lnSpc>
                <a:spcPts val="1919"/>
              </a:lnSpc>
              <a:spcBef>
                <a:spcPct val="0"/>
              </a:spcBef>
            </a:pPr>
            <a:r>
              <a:rPr lang="en-US" sz="1599" spc="-67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                 │</a:t>
            </a:r>
          </a:p>
          <a:p>
            <a:pPr algn="ctr">
              <a:lnSpc>
                <a:spcPts val="1919"/>
              </a:lnSpc>
              <a:spcBef>
                <a:spcPct val="0"/>
              </a:spcBef>
            </a:pPr>
            <a:r>
              <a:rPr lang="en-US" sz="1599" spc="-67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                 ▼</a:t>
            </a:r>
          </a:p>
          <a:p>
            <a:pPr algn="ctr">
              <a:lnSpc>
                <a:spcPts val="1919"/>
              </a:lnSpc>
              <a:spcBef>
                <a:spcPct val="0"/>
              </a:spcBef>
            </a:pPr>
            <a:r>
              <a:rPr lang="en-US" sz="1599" spc="-67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┌──────────────────────────────────────┐</a:t>
            </a:r>
          </a:p>
          <a:p>
            <a:pPr algn="ctr">
              <a:lnSpc>
                <a:spcPts val="1919"/>
              </a:lnSpc>
              <a:spcBef>
                <a:spcPct val="0"/>
              </a:spcBef>
            </a:pPr>
            <a:r>
              <a:rPr lang="en-US" sz="1599" spc="-67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│ Padded Message (512-bit blocks)     │</a:t>
            </a:r>
          </a:p>
          <a:p>
            <a:pPr algn="ctr">
              <a:lnSpc>
                <a:spcPts val="1919"/>
              </a:lnSpc>
              <a:spcBef>
                <a:spcPct val="0"/>
              </a:spcBef>
            </a:pPr>
            <a:r>
              <a:rPr lang="en-US" sz="1599" spc="-67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│ [Data][0x80][Zeros][Length]         │</a:t>
            </a:r>
          </a:p>
          <a:p>
            <a:pPr algn="ctr">
              <a:lnSpc>
                <a:spcPts val="1919"/>
              </a:lnSpc>
              <a:spcBef>
                <a:spcPct val="0"/>
              </a:spcBef>
            </a:pPr>
            <a:r>
              <a:rPr lang="en-US" sz="1599" spc="-67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└──────────────────────────────────────┘</a:t>
            </a:r>
          </a:p>
          <a:p>
            <a:pPr algn="ctr">
              <a:lnSpc>
                <a:spcPts val="1919"/>
              </a:lnSpc>
              <a:spcBef>
                <a:spcPct val="0"/>
              </a:spcBef>
            </a:pPr>
            <a:r>
              <a:rPr lang="en-US" sz="1599" spc="-67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                 │</a:t>
            </a:r>
          </a:p>
          <a:p>
            <a:pPr algn="ctr">
              <a:lnSpc>
                <a:spcPts val="1919"/>
              </a:lnSpc>
              <a:spcBef>
                <a:spcPct val="0"/>
              </a:spcBef>
            </a:pPr>
            <a:r>
              <a:rPr lang="en-US" sz="1599" spc="-67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                 ▼</a:t>
            </a:r>
          </a:p>
          <a:p>
            <a:pPr algn="ctr">
              <a:lnSpc>
                <a:spcPts val="1919"/>
              </a:lnSpc>
              <a:spcBef>
                <a:spcPct val="0"/>
              </a:spcBef>
            </a:pPr>
            <a:endParaRPr lang="en-US" sz="1599" spc="-67">
              <a:solidFill>
                <a:srgbClr val="FFFFFF"/>
              </a:solidFill>
              <a:latin typeface="Glock Grotesk"/>
              <a:ea typeface="Glock Grotesk"/>
              <a:cs typeface="Glock Grotesk"/>
              <a:sym typeface="Glock Grotesk"/>
            </a:endParaRPr>
          </a:p>
          <a:p>
            <a:pPr algn="ctr">
              <a:lnSpc>
                <a:spcPts val="1919"/>
              </a:lnSpc>
              <a:spcBef>
                <a:spcPct val="0"/>
              </a:spcBef>
            </a:pPr>
            <a:r>
              <a:rPr lang="en-US" sz="1599" spc="-67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               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910778" y="8261835"/>
            <a:ext cx="7785422" cy="120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9"/>
              </a:lnSpc>
              <a:spcBef>
                <a:spcPct val="0"/>
              </a:spcBef>
            </a:pPr>
            <a:r>
              <a:rPr lang="en-US" sz="1599" b="1" spc="-67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STEP 4: FINAL OUTPUT</a:t>
            </a:r>
          </a:p>
          <a:p>
            <a:pPr algn="ctr">
              <a:lnSpc>
                <a:spcPts val="1919"/>
              </a:lnSpc>
              <a:spcBef>
                <a:spcPct val="0"/>
              </a:spcBef>
            </a:pPr>
            <a:r>
              <a:rPr lang="en-US" sz="1599" b="1" spc="-67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┌──────────────────────────────────────┐</a:t>
            </a:r>
          </a:p>
          <a:p>
            <a:pPr algn="ctr">
              <a:lnSpc>
                <a:spcPts val="1919"/>
              </a:lnSpc>
              <a:spcBef>
                <a:spcPct val="0"/>
              </a:spcBef>
            </a:pPr>
            <a:r>
              <a:rPr lang="en-US" sz="1599" b="1" spc="-67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│ 256-bit Hash Output │</a:t>
            </a:r>
          </a:p>
          <a:p>
            <a:pPr algn="ctr">
              <a:lnSpc>
                <a:spcPts val="1919"/>
              </a:lnSpc>
              <a:spcBef>
                <a:spcPct val="0"/>
              </a:spcBef>
            </a:pPr>
            <a:r>
              <a:rPr lang="en-US" sz="1599" b="1" spc="-67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│ (Concatenate all 8 state values) │</a:t>
            </a:r>
          </a:p>
          <a:p>
            <a:pPr algn="ctr">
              <a:lnSpc>
                <a:spcPts val="1919"/>
              </a:lnSpc>
              <a:spcBef>
                <a:spcPct val="0"/>
              </a:spcBef>
            </a:pPr>
            <a:r>
              <a:rPr lang="en-US" sz="1599" b="1" spc="-67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└──────────────────────────────────────┘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623171" y="2514600"/>
            <a:ext cx="5993085" cy="5724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9"/>
              </a:lnSpc>
              <a:spcBef>
                <a:spcPct val="0"/>
              </a:spcBef>
            </a:pPr>
            <a:r>
              <a:rPr lang="en-US" sz="1599" b="1" spc="-67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STEP 3: BLOCK PROCESSING</a:t>
            </a:r>
          </a:p>
          <a:p>
            <a:pPr algn="ctr">
              <a:lnSpc>
                <a:spcPts val="1919"/>
              </a:lnSpc>
              <a:spcBef>
                <a:spcPct val="0"/>
              </a:spcBef>
            </a:pPr>
            <a:r>
              <a:rPr lang="en-US" sz="1599" b="1" spc="-67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┌─────────────┐ ┌─────────────┐</a:t>
            </a:r>
          </a:p>
          <a:p>
            <a:pPr algn="ctr">
              <a:lnSpc>
                <a:spcPts val="1919"/>
              </a:lnSpc>
              <a:spcBef>
                <a:spcPct val="0"/>
              </a:spcBef>
            </a:pPr>
            <a:r>
              <a:rPr lang="en-US" sz="1599" b="1" spc="-67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│ Block 1 │──────▶│Compression │</a:t>
            </a:r>
          </a:p>
          <a:p>
            <a:pPr algn="ctr">
              <a:lnSpc>
                <a:spcPts val="1919"/>
              </a:lnSpc>
              <a:spcBef>
                <a:spcPct val="0"/>
              </a:spcBef>
            </a:pPr>
            <a:r>
              <a:rPr lang="en-US" sz="1599" b="1" spc="-67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│ (512 bits) │ │ Function │</a:t>
            </a:r>
          </a:p>
          <a:p>
            <a:pPr algn="ctr">
              <a:lnSpc>
                <a:spcPts val="1919"/>
              </a:lnSpc>
              <a:spcBef>
                <a:spcPct val="0"/>
              </a:spcBef>
            </a:pPr>
            <a:r>
              <a:rPr lang="en-US" sz="1599" b="1" spc="-67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└─────────────┘ └──────┬──────┘</a:t>
            </a:r>
          </a:p>
          <a:p>
            <a:pPr algn="ctr">
              <a:lnSpc>
                <a:spcPts val="1919"/>
              </a:lnSpc>
              <a:spcBef>
                <a:spcPct val="0"/>
              </a:spcBef>
            </a:pPr>
            <a:r>
              <a:rPr lang="en-US" sz="1599" b="1" spc="-67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 │</a:t>
            </a:r>
          </a:p>
          <a:p>
            <a:pPr algn="ctr">
              <a:lnSpc>
                <a:spcPts val="1919"/>
              </a:lnSpc>
              <a:spcBef>
                <a:spcPct val="0"/>
              </a:spcBef>
            </a:pPr>
            <a:r>
              <a:rPr lang="en-US" sz="1599" b="1" spc="-67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 ┌───────▼────────┐</a:t>
            </a:r>
          </a:p>
          <a:p>
            <a:pPr algn="ctr">
              <a:lnSpc>
                <a:spcPts val="1919"/>
              </a:lnSpc>
              <a:spcBef>
                <a:spcPct val="0"/>
              </a:spcBef>
            </a:pPr>
            <a:r>
              <a:rPr lang="en-US" sz="1599" b="1" spc="-67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 │ Updated State │</a:t>
            </a:r>
          </a:p>
          <a:p>
            <a:pPr algn="ctr">
              <a:lnSpc>
                <a:spcPts val="1919"/>
              </a:lnSpc>
              <a:spcBef>
                <a:spcPct val="0"/>
              </a:spcBef>
            </a:pPr>
            <a:r>
              <a:rPr lang="en-US" sz="1599" b="1" spc="-67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 │ (256 bits) │</a:t>
            </a:r>
          </a:p>
          <a:p>
            <a:pPr algn="ctr">
              <a:lnSpc>
                <a:spcPts val="1919"/>
              </a:lnSpc>
              <a:spcBef>
                <a:spcPct val="0"/>
              </a:spcBef>
            </a:pPr>
            <a:r>
              <a:rPr lang="en-US" sz="1599" b="1" spc="-67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 └───────┬────────┘</a:t>
            </a:r>
          </a:p>
          <a:p>
            <a:pPr algn="ctr">
              <a:lnSpc>
                <a:spcPts val="1919"/>
              </a:lnSpc>
              <a:spcBef>
                <a:spcPct val="0"/>
              </a:spcBef>
            </a:pPr>
            <a:r>
              <a:rPr lang="en-US" sz="1599" b="1" spc="-67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 │</a:t>
            </a:r>
          </a:p>
          <a:p>
            <a:pPr algn="ctr">
              <a:lnSpc>
                <a:spcPts val="1919"/>
              </a:lnSpc>
              <a:spcBef>
                <a:spcPct val="0"/>
              </a:spcBef>
            </a:pPr>
            <a:r>
              <a:rPr lang="en-US" sz="1599" b="1" spc="-67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┌─────────────┐ ┌──────▼──────┐</a:t>
            </a:r>
          </a:p>
          <a:p>
            <a:pPr algn="ctr">
              <a:lnSpc>
                <a:spcPts val="1919"/>
              </a:lnSpc>
              <a:spcBef>
                <a:spcPct val="0"/>
              </a:spcBef>
            </a:pPr>
            <a:r>
              <a:rPr lang="en-US" sz="1599" b="1" spc="-67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│ Block 2 │──────▶│Compression │</a:t>
            </a:r>
          </a:p>
          <a:p>
            <a:pPr algn="ctr">
              <a:lnSpc>
                <a:spcPts val="1919"/>
              </a:lnSpc>
              <a:spcBef>
                <a:spcPct val="0"/>
              </a:spcBef>
            </a:pPr>
            <a:r>
              <a:rPr lang="en-US" sz="1599" b="1" spc="-67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│ (512 bits) │ │ Function │</a:t>
            </a:r>
          </a:p>
          <a:p>
            <a:pPr algn="ctr">
              <a:lnSpc>
                <a:spcPts val="1919"/>
              </a:lnSpc>
              <a:spcBef>
                <a:spcPct val="0"/>
              </a:spcBef>
            </a:pPr>
            <a:r>
              <a:rPr lang="en-US" sz="1599" b="1" spc="-67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└─────────────┘ └──────┬──────┘</a:t>
            </a:r>
          </a:p>
          <a:p>
            <a:pPr algn="ctr">
              <a:lnSpc>
                <a:spcPts val="1919"/>
              </a:lnSpc>
              <a:spcBef>
                <a:spcPct val="0"/>
              </a:spcBef>
            </a:pPr>
            <a:r>
              <a:rPr lang="en-US" sz="1599" b="1" spc="-67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 │</a:t>
            </a:r>
          </a:p>
          <a:p>
            <a:pPr algn="ctr">
              <a:lnSpc>
                <a:spcPts val="1919"/>
              </a:lnSpc>
              <a:spcBef>
                <a:spcPct val="0"/>
              </a:spcBef>
            </a:pPr>
            <a:r>
              <a:rPr lang="en-US" sz="1599" b="1" spc="-67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 ┌───────▼────────┐</a:t>
            </a:r>
          </a:p>
          <a:p>
            <a:pPr algn="ctr">
              <a:lnSpc>
                <a:spcPts val="1919"/>
              </a:lnSpc>
              <a:spcBef>
                <a:spcPct val="0"/>
              </a:spcBef>
            </a:pPr>
            <a:r>
              <a:rPr lang="en-US" sz="1599" b="1" spc="-67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 │ Updated State │</a:t>
            </a:r>
          </a:p>
          <a:p>
            <a:pPr algn="ctr">
              <a:lnSpc>
                <a:spcPts val="1919"/>
              </a:lnSpc>
              <a:spcBef>
                <a:spcPct val="0"/>
              </a:spcBef>
            </a:pPr>
            <a:r>
              <a:rPr lang="en-US" sz="1599" b="1" spc="-67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 └───────┬────────┘</a:t>
            </a:r>
          </a:p>
          <a:p>
            <a:pPr algn="ctr">
              <a:lnSpc>
                <a:spcPts val="1919"/>
              </a:lnSpc>
              <a:spcBef>
                <a:spcPct val="0"/>
              </a:spcBef>
            </a:pPr>
            <a:r>
              <a:rPr lang="en-US" sz="1599" b="1" spc="-67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 │</a:t>
            </a:r>
          </a:p>
          <a:p>
            <a:pPr algn="ctr">
              <a:lnSpc>
                <a:spcPts val="1919"/>
              </a:lnSpc>
              <a:spcBef>
                <a:spcPct val="0"/>
              </a:spcBef>
            </a:pPr>
            <a:r>
              <a:rPr lang="en-US" sz="1599" b="1" spc="-67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 ...</a:t>
            </a:r>
          </a:p>
          <a:p>
            <a:pPr algn="ctr">
              <a:lnSpc>
                <a:spcPts val="1919"/>
              </a:lnSpc>
              <a:spcBef>
                <a:spcPct val="0"/>
              </a:spcBef>
            </a:pPr>
            <a:r>
              <a:rPr lang="en-US" sz="1599" b="1" spc="-67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 │</a:t>
            </a:r>
          </a:p>
          <a:p>
            <a:pPr algn="ctr">
              <a:lnSpc>
                <a:spcPts val="1919"/>
              </a:lnSpc>
              <a:spcBef>
                <a:spcPct val="0"/>
              </a:spcBef>
            </a:pPr>
            <a:r>
              <a:rPr lang="en-US" sz="1599" b="1" spc="-67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 ▼</a:t>
            </a:r>
          </a:p>
          <a:p>
            <a:pPr algn="ctr">
              <a:lnSpc>
                <a:spcPts val="1919"/>
              </a:lnSpc>
              <a:spcBef>
                <a:spcPct val="0"/>
              </a:spcBef>
            </a:pPr>
            <a:endParaRPr lang="en-US" sz="1599" b="1" spc="-67">
              <a:solidFill>
                <a:srgbClr val="FFFFFF"/>
              </a:solidFill>
              <a:latin typeface="Glock Grotesk"/>
              <a:ea typeface="Glock Grotesk"/>
              <a:cs typeface="Glock Grotesk"/>
              <a:sym typeface="Glock Grotesk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70908">
                <a:alpha val="100000"/>
              </a:srgbClr>
            </a:gs>
            <a:gs pos="33333">
              <a:srgbClr val="29464A">
                <a:alpha val="100000"/>
              </a:srgbClr>
            </a:gs>
            <a:gs pos="66667">
              <a:srgbClr val="6D8080">
                <a:alpha val="100000"/>
              </a:srgbClr>
            </a:gs>
            <a:gs pos="100000">
              <a:srgbClr val="B9C8B6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87787" y="808862"/>
            <a:ext cx="15112426" cy="1981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00"/>
              </a:lnSpc>
            </a:pPr>
            <a:r>
              <a:rPr lang="en-US" sz="6500" spc="-273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CRYPTOGRAPHIC OPERATIONS</a:t>
            </a:r>
          </a:p>
          <a:p>
            <a:pPr marL="0" lvl="0" indent="0" algn="ctr">
              <a:lnSpc>
                <a:spcPts val="7800"/>
              </a:lnSpc>
              <a:spcBef>
                <a:spcPct val="0"/>
              </a:spcBef>
            </a:pPr>
            <a:endParaRPr lang="en-US" sz="6500" spc="-273">
              <a:solidFill>
                <a:srgbClr val="FFFFFF"/>
              </a:solidFill>
              <a:latin typeface="Glock Grotesk"/>
              <a:ea typeface="Glock Grotesk"/>
              <a:cs typeface="Glock Grotesk"/>
              <a:sym typeface="Glock Grotesk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1587787" y="2128359"/>
            <a:ext cx="7344348" cy="2419350"/>
            <a:chOff x="0" y="0"/>
            <a:chExt cx="1934314" cy="63719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934314" cy="637195"/>
            </a:xfrm>
            <a:custGeom>
              <a:avLst/>
              <a:gdLst/>
              <a:ahLst/>
              <a:cxnLst/>
              <a:rect l="l" t="t" r="r" b="b"/>
              <a:pathLst>
                <a:path w="1934314" h="637195">
                  <a:moveTo>
                    <a:pt x="10541" y="0"/>
                  </a:moveTo>
                  <a:lnTo>
                    <a:pt x="1923772" y="0"/>
                  </a:lnTo>
                  <a:cubicBezTo>
                    <a:pt x="1926568" y="0"/>
                    <a:pt x="1929249" y="1111"/>
                    <a:pt x="1931226" y="3087"/>
                  </a:cubicBezTo>
                  <a:cubicBezTo>
                    <a:pt x="1933203" y="5064"/>
                    <a:pt x="1934314" y="7746"/>
                    <a:pt x="1934314" y="10541"/>
                  </a:cubicBezTo>
                  <a:lnTo>
                    <a:pt x="1934314" y="626654"/>
                  </a:lnTo>
                  <a:cubicBezTo>
                    <a:pt x="1934314" y="629449"/>
                    <a:pt x="1933203" y="632131"/>
                    <a:pt x="1931226" y="634108"/>
                  </a:cubicBezTo>
                  <a:cubicBezTo>
                    <a:pt x="1929249" y="636084"/>
                    <a:pt x="1926568" y="637195"/>
                    <a:pt x="1923772" y="637195"/>
                  </a:cubicBezTo>
                  <a:lnTo>
                    <a:pt x="10541" y="637195"/>
                  </a:lnTo>
                  <a:cubicBezTo>
                    <a:pt x="7746" y="637195"/>
                    <a:pt x="5064" y="636084"/>
                    <a:pt x="3087" y="634108"/>
                  </a:cubicBezTo>
                  <a:cubicBezTo>
                    <a:pt x="1111" y="632131"/>
                    <a:pt x="0" y="629449"/>
                    <a:pt x="0" y="626654"/>
                  </a:cubicBezTo>
                  <a:lnTo>
                    <a:pt x="0" y="10541"/>
                  </a:lnTo>
                  <a:cubicBezTo>
                    <a:pt x="0" y="7746"/>
                    <a:pt x="1111" y="5064"/>
                    <a:pt x="3087" y="3087"/>
                  </a:cubicBezTo>
                  <a:cubicBezTo>
                    <a:pt x="5064" y="1111"/>
                    <a:pt x="7746" y="0"/>
                    <a:pt x="10541" y="0"/>
                  </a:cubicBezTo>
                  <a:close/>
                </a:path>
              </a:pathLst>
            </a:custGeom>
            <a:solidFill>
              <a:srgbClr val="FFFFFF">
                <a:alpha val="29804"/>
              </a:srgbClr>
            </a:solidFill>
            <a:ln w="9525" cap="sq">
              <a:solidFill>
                <a:srgbClr val="9EB49F">
                  <a:alpha val="2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1934314" cy="7133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47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078785" y="2647788"/>
            <a:ext cx="6362353" cy="1406909"/>
            <a:chOff x="0" y="0"/>
            <a:chExt cx="8483137" cy="1875878"/>
          </a:xfrm>
        </p:grpSpPr>
        <p:sp>
          <p:nvSpPr>
            <p:cNvPr id="7" name="TextBox 7"/>
            <p:cNvSpPr txBox="1"/>
            <p:nvPr/>
          </p:nvSpPr>
          <p:spPr>
            <a:xfrm>
              <a:off x="0" y="-76200"/>
              <a:ext cx="8483137" cy="7171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79"/>
                </a:lnSpc>
                <a:spcBef>
                  <a:spcPct val="0"/>
                </a:spcBef>
              </a:pPr>
              <a:r>
                <a:rPr lang="en-US" sz="3199" b="1">
                  <a:solidFill>
                    <a:srgbClr val="FFFFFF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Op1: XOR (Exclusive OR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782408"/>
              <a:ext cx="8483137" cy="10934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Binary mixing without data loss</a:t>
              </a:r>
            </a:p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Example: 1010 XOR 1100 = 0110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355865" y="2141568"/>
            <a:ext cx="7344348" cy="2419350"/>
            <a:chOff x="0" y="0"/>
            <a:chExt cx="1934314" cy="63719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34314" cy="637195"/>
            </a:xfrm>
            <a:custGeom>
              <a:avLst/>
              <a:gdLst/>
              <a:ahLst/>
              <a:cxnLst/>
              <a:rect l="l" t="t" r="r" b="b"/>
              <a:pathLst>
                <a:path w="1934314" h="637195">
                  <a:moveTo>
                    <a:pt x="10541" y="0"/>
                  </a:moveTo>
                  <a:lnTo>
                    <a:pt x="1923772" y="0"/>
                  </a:lnTo>
                  <a:cubicBezTo>
                    <a:pt x="1926568" y="0"/>
                    <a:pt x="1929249" y="1111"/>
                    <a:pt x="1931226" y="3087"/>
                  </a:cubicBezTo>
                  <a:cubicBezTo>
                    <a:pt x="1933203" y="5064"/>
                    <a:pt x="1934314" y="7746"/>
                    <a:pt x="1934314" y="10541"/>
                  </a:cubicBezTo>
                  <a:lnTo>
                    <a:pt x="1934314" y="626654"/>
                  </a:lnTo>
                  <a:cubicBezTo>
                    <a:pt x="1934314" y="629449"/>
                    <a:pt x="1933203" y="632131"/>
                    <a:pt x="1931226" y="634108"/>
                  </a:cubicBezTo>
                  <a:cubicBezTo>
                    <a:pt x="1929249" y="636084"/>
                    <a:pt x="1926568" y="637195"/>
                    <a:pt x="1923772" y="637195"/>
                  </a:cubicBezTo>
                  <a:lnTo>
                    <a:pt x="10541" y="637195"/>
                  </a:lnTo>
                  <a:cubicBezTo>
                    <a:pt x="7746" y="637195"/>
                    <a:pt x="5064" y="636084"/>
                    <a:pt x="3087" y="634108"/>
                  </a:cubicBezTo>
                  <a:cubicBezTo>
                    <a:pt x="1111" y="632131"/>
                    <a:pt x="0" y="629449"/>
                    <a:pt x="0" y="626654"/>
                  </a:cubicBezTo>
                  <a:lnTo>
                    <a:pt x="0" y="10541"/>
                  </a:lnTo>
                  <a:cubicBezTo>
                    <a:pt x="0" y="7746"/>
                    <a:pt x="1111" y="5064"/>
                    <a:pt x="3087" y="3087"/>
                  </a:cubicBezTo>
                  <a:cubicBezTo>
                    <a:pt x="5064" y="1111"/>
                    <a:pt x="7746" y="0"/>
                    <a:pt x="10541" y="0"/>
                  </a:cubicBezTo>
                  <a:close/>
                </a:path>
              </a:pathLst>
            </a:custGeom>
            <a:solidFill>
              <a:srgbClr val="FFFFFF">
                <a:alpha val="29804"/>
              </a:srgbClr>
            </a:solidFill>
            <a:ln w="9525" cap="sq">
              <a:solidFill>
                <a:srgbClr val="9EB49F">
                  <a:alpha val="2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76200"/>
              <a:ext cx="1934314" cy="7133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47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846862" y="2180790"/>
            <a:ext cx="6362353" cy="2664209"/>
            <a:chOff x="0" y="0"/>
            <a:chExt cx="8483137" cy="3552278"/>
          </a:xfrm>
        </p:grpSpPr>
        <p:sp>
          <p:nvSpPr>
            <p:cNvPr id="13" name="TextBox 13"/>
            <p:cNvSpPr txBox="1"/>
            <p:nvPr/>
          </p:nvSpPr>
          <p:spPr>
            <a:xfrm>
              <a:off x="0" y="-76200"/>
              <a:ext cx="8483137" cy="7171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79"/>
                </a:lnSpc>
                <a:spcBef>
                  <a:spcPct val="0"/>
                </a:spcBef>
              </a:pPr>
              <a:r>
                <a:rPr lang="en-US" sz="3199" b="1">
                  <a:solidFill>
                    <a:srgbClr val="FFFFFF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Op2: BIT ROTATION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782408"/>
              <a:ext cx="8483137" cy="27698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Spreads changes across all positions</a:t>
              </a:r>
            </a:p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Example: Rotate Right by 7</a:t>
              </a:r>
            </a:p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Before: 10110001 (177)</a:t>
              </a:r>
            </a:p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After: 00000101 (5)</a:t>
              </a:r>
            </a:p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endParaRPr lang="en-US" sz="24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587787" y="5083123"/>
            <a:ext cx="7344348" cy="2419350"/>
            <a:chOff x="0" y="0"/>
            <a:chExt cx="1934314" cy="63719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934314" cy="637195"/>
            </a:xfrm>
            <a:custGeom>
              <a:avLst/>
              <a:gdLst/>
              <a:ahLst/>
              <a:cxnLst/>
              <a:rect l="l" t="t" r="r" b="b"/>
              <a:pathLst>
                <a:path w="1934314" h="637195">
                  <a:moveTo>
                    <a:pt x="10541" y="0"/>
                  </a:moveTo>
                  <a:lnTo>
                    <a:pt x="1923772" y="0"/>
                  </a:lnTo>
                  <a:cubicBezTo>
                    <a:pt x="1926568" y="0"/>
                    <a:pt x="1929249" y="1111"/>
                    <a:pt x="1931226" y="3087"/>
                  </a:cubicBezTo>
                  <a:cubicBezTo>
                    <a:pt x="1933203" y="5064"/>
                    <a:pt x="1934314" y="7746"/>
                    <a:pt x="1934314" y="10541"/>
                  </a:cubicBezTo>
                  <a:lnTo>
                    <a:pt x="1934314" y="626654"/>
                  </a:lnTo>
                  <a:cubicBezTo>
                    <a:pt x="1934314" y="629449"/>
                    <a:pt x="1933203" y="632131"/>
                    <a:pt x="1931226" y="634108"/>
                  </a:cubicBezTo>
                  <a:cubicBezTo>
                    <a:pt x="1929249" y="636084"/>
                    <a:pt x="1926568" y="637195"/>
                    <a:pt x="1923772" y="637195"/>
                  </a:cubicBezTo>
                  <a:lnTo>
                    <a:pt x="10541" y="637195"/>
                  </a:lnTo>
                  <a:cubicBezTo>
                    <a:pt x="7746" y="637195"/>
                    <a:pt x="5064" y="636084"/>
                    <a:pt x="3087" y="634108"/>
                  </a:cubicBezTo>
                  <a:cubicBezTo>
                    <a:pt x="1111" y="632131"/>
                    <a:pt x="0" y="629449"/>
                    <a:pt x="0" y="626654"/>
                  </a:cubicBezTo>
                  <a:lnTo>
                    <a:pt x="0" y="10541"/>
                  </a:lnTo>
                  <a:cubicBezTo>
                    <a:pt x="0" y="7746"/>
                    <a:pt x="1111" y="5064"/>
                    <a:pt x="3087" y="3087"/>
                  </a:cubicBezTo>
                  <a:cubicBezTo>
                    <a:pt x="5064" y="1111"/>
                    <a:pt x="7746" y="0"/>
                    <a:pt x="10541" y="0"/>
                  </a:cubicBezTo>
                  <a:close/>
                </a:path>
              </a:pathLst>
            </a:custGeom>
            <a:solidFill>
              <a:srgbClr val="FFFFFF">
                <a:alpha val="29804"/>
              </a:srgbClr>
            </a:solidFill>
            <a:ln w="9525" cap="sq">
              <a:solidFill>
                <a:srgbClr val="9EB49F">
                  <a:alpha val="2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76200"/>
              <a:ext cx="1934314" cy="7133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47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078785" y="5393003"/>
            <a:ext cx="6362353" cy="1826009"/>
            <a:chOff x="0" y="0"/>
            <a:chExt cx="8483137" cy="2434678"/>
          </a:xfrm>
        </p:grpSpPr>
        <p:sp>
          <p:nvSpPr>
            <p:cNvPr id="19" name="TextBox 19"/>
            <p:cNvSpPr txBox="1"/>
            <p:nvPr/>
          </p:nvSpPr>
          <p:spPr>
            <a:xfrm>
              <a:off x="0" y="-76200"/>
              <a:ext cx="8483137" cy="7171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79"/>
                </a:lnSpc>
                <a:spcBef>
                  <a:spcPct val="0"/>
                </a:spcBef>
              </a:pPr>
              <a:r>
                <a:rPr lang="en-US" sz="3199" b="1">
                  <a:solidFill>
                    <a:srgbClr val="FFFFFF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Op3: MODULAR ADDITION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782408"/>
              <a:ext cx="8483137" cy="16522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Non-linear transformation</a:t>
              </a:r>
            </a:p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Example: (0xFFFFFFFF + 1) mod 2³² = 0</a:t>
              </a:r>
            </a:p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endParaRPr lang="en-US" sz="24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144000" y="5576699"/>
            <a:ext cx="7344348" cy="4247617"/>
            <a:chOff x="0" y="0"/>
            <a:chExt cx="1934314" cy="111871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934314" cy="1118714"/>
            </a:xfrm>
            <a:custGeom>
              <a:avLst/>
              <a:gdLst/>
              <a:ahLst/>
              <a:cxnLst/>
              <a:rect l="l" t="t" r="r" b="b"/>
              <a:pathLst>
                <a:path w="1934314" h="1118714">
                  <a:moveTo>
                    <a:pt x="10541" y="0"/>
                  </a:moveTo>
                  <a:lnTo>
                    <a:pt x="1923772" y="0"/>
                  </a:lnTo>
                  <a:cubicBezTo>
                    <a:pt x="1926568" y="0"/>
                    <a:pt x="1929249" y="1111"/>
                    <a:pt x="1931226" y="3087"/>
                  </a:cubicBezTo>
                  <a:cubicBezTo>
                    <a:pt x="1933203" y="5064"/>
                    <a:pt x="1934314" y="7746"/>
                    <a:pt x="1934314" y="10541"/>
                  </a:cubicBezTo>
                  <a:lnTo>
                    <a:pt x="1934314" y="1108173"/>
                  </a:lnTo>
                  <a:cubicBezTo>
                    <a:pt x="1934314" y="1110968"/>
                    <a:pt x="1933203" y="1113650"/>
                    <a:pt x="1931226" y="1115626"/>
                  </a:cubicBezTo>
                  <a:cubicBezTo>
                    <a:pt x="1929249" y="1117603"/>
                    <a:pt x="1926568" y="1118714"/>
                    <a:pt x="1923772" y="1118714"/>
                  </a:cubicBezTo>
                  <a:lnTo>
                    <a:pt x="10541" y="1118714"/>
                  </a:lnTo>
                  <a:cubicBezTo>
                    <a:pt x="7746" y="1118714"/>
                    <a:pt x="5064" y="1117603"/>
                    <a:pt x="3087" y="1115626"/>
                  </a:cubicBezTo>
                  <a:cubicBezTo>
                    <a:pt x="1111" y="1113650"/>
                    <a:pt x="0" y="1110968"/>
                    <a:pt x="0" y="1108173"/>
                  </a:cubicBezTo>
                  <a:lnTo>
                    <a:pt x="0" y="10541"/>
                  </a:lnTo>
                  <a:cubicBezTo>
                    <a:pt x="0" y="7746"/>
                    <a:pt x="1111" y="5064"/>
                    <a:pt x="3087" y="3087"/>
                  </a:cubicBezTo>
                  <a:cubicBezTo>
                    <a:pt x="5064" y="1111"/>
                    <a:pt x="7746" y="0"/>
                    <a:pt x="10541" y="0"/>
                  </a:cubicBezTo>
                  <a:close/>
                </a:path>
              </a:pathLst>
            </a:custGeom>
            <a:solidFill>
              <a:srgbClr val="FFFFFF">
                <a:alpha val="29804"/>
              </a:srgbClr>
            </a:solidFill>
            <a:ln w="9525" cap="sq">
              <a:solidFill>
                <a:srgbClr val="9EB49F">
                  <a:alpha val="2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76200"/>
              <a:ext cx="1934314" cy="11949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47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634998" y="6158853"/>
            <a:ext cx="6362353" cy="3083309"/>
            <a:chOff x="0" y="0"/>
            <a:chExt cx="8483137" cy="4111078"/>
          </a:xfrm>
        </p:grpSpPr>
        <p:sp>
          <p:nvSpPr>
            <p:cNvPr id="25" name="TextBox 25"/>
            <p:cNvSpPr txBox="1"/>
            <p:nvPr/>
          </p:nvSpPr>
          <p:spPr>
            <a:xfrm>
              <a:off x="0" y="-76200"/>
              <a:ext cx="8483137" cy="7171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79"/>
                </a:lnSpc>
                <a:spcBef>
                  <a:spcPct val="0"/>
                </a:spcBef>
              </a:pPr>
              <a:r>
                <a:rPr lang="en-US" sz="3199" b="1">
                  <a:solidFill>
                    <a:srgbClr val="FFFFFF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BENEFITS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782408"/>
              <a:ext cx="8483137" cy="3328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18160" lvl="1" indent="-259080" algn="ctr">
                <a:lnSpc>
                  <a:spcPts val="3359"/>
                </a:lnSpc>
                <a:buFont typeface="Arial"/>
                <a:buChar char="•"/>
              </a:pPr>
              <a:r>
                <a:rPr lang="en-US" sz="2400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Reversible in isolation but secure when combined</a:t>
              </a:r>
            </a:p>
            <a:p>
              <a:pPr marL="518160" lvl="1" indent="-259080" algn="ctr">
                <a:lnSpc>
                  <a:spcPts val="3359"/>
                </a:lnSpc>
                <a:buFont typeface="Arial"/>
                <a:buChar char="•"/>
              </a:pPr>
              <a:r>
                <a:rPr lang="en-US" sz="2400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Different rotation amounts create complex diffusion</a:t>
              </a:r>
            </a:p>
            <a:p>
              <a:pPr marL="518160" lvl="1" indent="-259080" algn="ctr">
                <a:lnSpc>
                  <a:spcPts val="3359"/>
                </a:lnSpc>
                <a:buFont typeface="Arial"/>
                <a:buChar char="•"/>
              </a:pPr>
              <a:r>
                <a:rPr lang="en-US" sz="2400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Introduces carries that propagate unpredictably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70908">
                <a:alpha val="100000"/>
              </a:srgbClr>
            </a:gs>
            <a:gs pos="33333">
              <a:srgbClr val="29464A">
                <a:alpha val="100000"/>
              </a:srgbClr>
            </a:gs>
            <a:gs pos="66667">
              <a:srgbClr val="6D8080">
                <a:alpha val="100000"/>
              </a:srgbClr>
            </a:gs>
            <a:gs pos="100000">
              <a:srgbClr val="B9C8B6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31182" y="1970322"/>
            <a:ext cx="10707585" cy="8004554"/>
          </a:xfrm>
          <a:custGeom>
            <a:avLst/>
            <a:gdLst/>
            <a:ahLst/>
            <a:cxnLst/>
            <a:rect l="l" t="t" r="r" b="b"/>
            <a:pathLst>
              <a:path w="10707585" h="8004554">
                <a:moveTo>
                  <a:pt x="0" y="0"/>
                </a:moveTo>
                <a:lnTo>
                  <a:pt x="10707584" y="0"/>
                </a:lnTo>
                <a:lnTo>
                  <a:pt x="10707584" y="8004554"/>
                </a:lnTo>
                <a:lnTo>
                  <a:pt x="0" y="80045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587787" y="808862"/>
            <a:ext cx="15112426" cy="1981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00"/>
              </a:lnSpc>
            </a:pPr>
            <a:r>
              <a:rPr lang="en-US" sz="6500" spc="-273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CODE DEEP DIVE - PADDING</a:t>
            </a:r>
          </a:p>
          <a:p>
            <a:pPr marL="0" lvl="0" indent="0" algn="ctr">
              <a:lnSpc>
                <a:spcPts val="7800"/>
              </a:lnSpc>
              <a:spcBef>
                <a:spcPct val="0"/>
              </a:spcBef>
            </a:pPr>
            <a:endParaRPr lang="en-US" sz="6500" spc="-273">
              <a:solidFill>
                <a:srgbClr val="FFFFFF"/>
              </a:solidFill>
              <a:latin typeface="Glock Grotesk"/>
              <a:ea typeface="Glock Grotesk"/>
              <a:cs typeface="Glock Grotesk"/>
              <a:sym typeface="Glock Grotesk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1227424" y="2226734"/>
            <a:ext cx="6816807" cy="7425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Input: "Hello" (5 bytes)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endParaRPr lang="en-US" sz="2799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Step 1: Add 0x80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[48 65 6C 6C 6F][80]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endParaRPr lang="en-US" sz="2799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Step 2: Add padding to reach 56 bytes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[48 65 6C 6C 6F 80][00 00 00 ... 00] (50 zero bytes)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endParaRPr lang="en-US" sz="2799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Step 3: Add length (5 bytes × 8 = 40 bits = 0x28)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[... previous bytes ...][00 00 00 00 00 00 00 28]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endParaRPr lang="en-US" sz="2799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Total: 64 bytes (512 bits) ✓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70908">
                <a:alpha val="100000"/>
              </a:srgbClr>
            </a:gs>
            <a:gs pos="33333">
              <a:srgbClr val="29464A">
                <a:alpha val="100000"/>
              </a:srgbClr>
            </a:gs>
            <a:gs pos="66667">
              <a:srgbClr val="6D8080">
                <a:alpha val="100000"/>
              </a:srgbClr>
            </a:gs>
            <a:gs pos="100000">
              <a:srgbClr val="B9C8B6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95015" y="76903"/>
            <a:ext cx="10880962" cy="5895696"/>
          </a:xfrm>
          <a:custGeom>
            <a:avLst/>
            <a:gdLst/>
            <a:ahLst/>
            <a:cxnLst/>
            <a:rect l="l" t="t" r="r" b="b"/>
            <a:pathLst>
              <a:path w="10880962" h="5895696">
                <a:moveTo>
                  <a:pt x="0" y="0"/>
                </a:moveTo>
                <a:lnTo>
                  <a:pt x="10880962" y="0"/>
                </a:lnTo>
                <a:lnTo>
                  <a:pt x="10880962" y="5895696"/>
                </a:lnTo>
                <a:lnTo>
                  <a:pt x="0" y="58956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350" b="-435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0" y="5143500"/>
            <a:ext cx="10880962" cy="6031226"/>
          </a:xfrm>
          <a:custGeom>
            <a:avLst/>
            <a:gdLst/>
            <a:ahLst/>
            <a:cxnLst/>
            <a:rect l="l" t="t" r="r" b="b"/>
            <a:pathLst>
              <a:path w="10880962" h="6031226">
                <a:moveTo>
                  <a:pt x="0" y="0"/>
                </a:moveTo>
                <a:lnTo>
                  <a:pt x="10880962" y="0"/>
                </a:lnTo>
                <a:lnTo>
                  <a:pt x="10880962" y="6031226"/>
                </a:lnTo>
                <a:lnTo>
                  <a:pt x="0" y="60312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28700" y="735731"/>
            <a:ext cx="16700213" cy="1981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00"/>
              </a:lnSpc>
            </a:pPr>
            <a:r>
              <a:rPr lang="en-US" sz="6500" spc="-273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CODE DEEP DIVE - COMPRESSION</a:t>
            </a:r>
          </a:p>
          <a:p>
            <a:pPr marL="0" lvl="0" indent="0" algn="ctr">
              <a:lnSpc>
                <a:spcPts val="7800"/>
              </a:lnSpc>
              <a:spcBef>
                <a:spcPct val="0"/>
              </a:spcBef>
            </a:pPr>
            <a:endParaRPr lang="en-US" sz="6500" spc="-273">
              <a:solidFill>
                <a:srgbClr val="FFFFFF"/>
              </a:solidFill>
              <a:latin typeface="Glock Grotesk"/>
              <a:ea typeface="Glock Grotesk"/>
              <a:cs typeface="Glock Grotesk"/>
              <a:sym typeface="Glock Grotesk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1227424" y="2226734"/>
            <a:ext cx="6816807" cy="6929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Key Functions: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endParaRPr lang="en-US" sz="2799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Ch (Choose):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If e=1, use f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If e=0, use g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endParaRPr lang="en-US" sz="2799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Maj (Majority):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Output the majority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bit among a, b, c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endParaRPr lang="en-US" sz="2799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Σ (Sigma):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Multiple rotations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for diffusion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endParaRPr lang="en-US" sz="2799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70908">
                <a:alpha val="100000"/>
              </a:srgbClr>
            </a:gs>
            <a:gs pos="33333">
              <a:srgbClr val="29464A">
                <a:alpha val="100000"/>
              </a:srgbClr>
            </a:gs>
            <a:gs pos="66667">
              <a:srgbClr val="6D8080">
                <a:alpha val="100000"/>
              </a:srgbClr>
            </a:gs>
            <a:gs pos="100000">
              <a:srgbClr val="B9C8B6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87787" y="313562"/>
            <a:ext cx="15112426" cy="297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00"/>
              </a:lnSpc>
            </a:pPr>
            <a:r>
              <a:rPr lang="en-US" sz="6500" spc="-273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Achieving the Avalanche Effect</a:t>
            </a:r>
          </a:p>
          <a:p>
            <a:pPr marL="0" lvl="0" indent="0" algn="ctr">
              <a:lnSpc>
                <a:spcPts val="7800"/>
              </a:lnSpc>
              <a:spcBef>
                <a:spcPct val="0"/>
              </a:spcBef>
            </a:pPr>
            <a:endParaRPr lang="en-US" sz="6500" spc="-273">
              <a:solidFill>
                <a:srgbClr val="FFFFFF"/>
              </a:solidFill>
              <a:latin typeface="Glock Grotesk"/>
              <a:ea typeface="Glock Grotesk"/>
              <a:cs typeface="Glock Grotesk"/>
              <a:sym typeface="Glock Grotesk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28700" y="2968814"/>
            <a:ext cx="10319742" cy="556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Goal: 1-bit input change → ~50% output bits change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51050" y="4545965"/>
            <a:ext cx="7191375" cy="1118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Layer 1: MULTIPLE ROTATIONS</a:t>
            </a:r>
          </a:p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Rotation by: 2, 6, 7, 11, 13, 22, 25 bits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1050" y="6453504"/>
            <a:ext cx="8532465" cy="2804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Layer 2: 64 ROUNDS</a:t>
            </a:r>
          </a:p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Single bit propagates through 64 iterations</a:t>
            </a:r>
          </a:p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Round 1: 1 bit changed</a:t>
            </a:r>
          </a:p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Round 5: ~100 bits changed</a:t>
            </a:r>
          </a:p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Round 64: ~128 bits changed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736131" y="4545965"/>
            <a:ext cx="6956524" cy="1118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Layer 3: MIXED OPERATIONS</a:t>
            </a:r>
          </a:p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XOR (linear) + Addition (non-linear)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72575" y="6453504"/>
            <a:ext cx="9462692" cy="2242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Layer 4: ROUND CONSTANTS</a:t>
            </a:r>
          </a:p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K[i] breaks symmetry</a:t>
            </a:r>
          </a:p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Prevents identical blocks from producing identical results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70908">
                <a:alpha val="100000"/>
              </a:srgbClr>
            </a:gs>
            <a:gs pos="33333">
              <a:srgbClr val="29464A">
                <a:alpha val="100000"/>
              </a:srgbClr>
            </a:gs>
            <a:gs pos="66667">
              <a:srgbClr val="6D8080">
                <a:alpha val="100000"/>
              </a:srgbClr>
            </a:gs>
            <a:gs pos="100000">
              <a:srgbClr val="B9C8B6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87787" y="313562"/>
            <a:ext cx="15112426" cy="297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00"/>
              </a:lnSpc>
            </a:pPr>
            <a:r>
              <a:rPr lang="en-US" sz="6500" spc="-273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Achieving the Avalanche Effect</a:t>
            </a:r>
          </a:p>
          <a:p>
            <a:pPr marL="0" lvl="0" indent="0" algn="ctr">
              <a:lnSpc>
                <a:spcPts val="7800"/>
              </a:lnSpc>
              <a:spcBef>
                <a:spcPct val="0"/>
              </a:spcBef>
            </a:pPr>
            <a:endParaRPr lang="en-US" sz="6500" spc="-273">
              <a:solidFill>
                <a:srgbClr val="FFFFFF"/>
              </a:solidFill>
              <a:latin typeface="Glock Grotesk"/>
              <a:ea typeface="Glock Grotesk"/>
              <a:cs typeface="Glock Grotesk"/>
              <a:sym typeface="Glock Grotesk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28700" y="2968814"/>
            <a:ext cx="10319742" cy="556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Goal: 1-bit input change → ~50% output bits change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51050" y="4545965"/>
            <a:ext cx="7191375" cy="1118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Layer 1: MULTIPLE ROTATIONS</a:t>
            </a:r>
          </a:p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Rotation by: 2, 6, 7, 11, 13, 22, 25 bits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1050" y="6453504"/>
            <a:ext cx="8532465" cy="2804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Layer 2: 64 ROUNDS</a:t>
            </a:r>
          </a:p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Single bit propagates through 64 iterations</a:t>
            </a:r>
          </a:p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Round 1: 1 bit changed</a:t>
            </a:r>
          </a:p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Round 5: ~100 bits changed</a:t>
            </a:r>
          </a:p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Round 64: ~128 bits changed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736131" y="4545965"/>
            <a:ext cx="6956524" cy="1118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Layer 3: MIXED OPERATIONS</a:t>
            </a:r>
          </a:p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XOR (linear) + Addition (non-linear)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72575" y="6453504"/>
            <a:ext cx="9462692" cy="2242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Layer 4: ROUND CONSTANTS</a:t>
            </a:r>
          </a:p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K[i] breaks symmetry</a:t>
            </a:r>
          </a:p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Prevents identical blocks from producing identical results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70908">
                <a:alpha val="100000"/>
              </a:srgbClr>
            </a:gs>
            <a:gs pos="33333">
              <a:srgbClr val="29464A">
                <a:alpha val="100000"/>
              </a:srgbClr>
            </a:gs>
            <a:gs pos="66667">
              <a:srgbClr val="6D8080">
                <a:alpha val="100000"/>
              </a:srgbClr>
            </a:gs>
            <a:gs pos="100000">
              <a:srgbClr val="B9C8B6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87787" y="808862"/>
            <a:ext cx="15112426" cy="1981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00"/>
              </a:lnSpc>
            </a:pPr>
            <a:r>
              <a:rPr lang="en-US" sz="6500" spc="-273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Testing Results</a:t>
            </a:r>
          </a:p>
          <a:p>
            <a:pPr marL="0" lvl="0" indent="0" algn="ctr">
              <a:lnSpc>
                <a:spcPts val="7800"/>
              </a:lnSpc>
              <a:spcBef>
                <a:spcPct val="0"/>
              </a:spcBef>
            </a:pPr>
            <a:endParaRPr lang="en-US" sz="6500" spc="-273">
              <a:solidFill>
                <a:srgbClr val="FFFFFF"/>
              </a:solidFill>
              <a:latin typeface="Glock Grotesk"/>
              <a:ea typeface="Glock Grotesk"/>
              <a:cs typeface="Glock Grotesk"/>
              <a:sym typeface="Glock Grotesk"/>
            </a:endParaRPr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1942833" y="2043231"/>
          <a:ext cx="14402334" cy="7524752"/>
        </p:xfrm>
        <a:graphic>
          <a:graphicData uri="http://schemas.openxmlformats.org/drawingml/2006/table">
            <a:tbl>
              <a:tblPr/>
              <a:tblGrid>
                <a:gridCol w="72011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11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85265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latin typeface="Work Sans Bold"/>
                          <a:ea typeface="Work Sans Bold"/>
                          <a:cs typeface="Work Sans Bold"/>
                          <a:sym typeface="Work Sans Bold"/>
                        </a:rPr>
                        <a:t>Test Category</a:t>
                      </a:r>
                      <a:endParaRPr lang="en-US" sz="1100"/>
                    </a:p>
                  </a:txBody>
                  <a:tcPr marL="171450" marR="171450" marT="171450" marB="171450" anchor="ctr">
                    <a:lnL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838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latin typeface="Work Sans Bold"/>
                          <a:ea typeface="Work Sans Bold"/>
                          <a:cs typeface="Work Sans Bold"/>
                          <a:sym typeface="Work Sans Bold"/>
                        </a:rPr>
                        <a:t>Result</a:t>
                      </a:r>
                      <a:endParaRPr lang="en-US" sz="1100"/>
                    </a:p>
                  </a:txBody>
                  <a:tcPr marL="171450" marR="171450" marT="171450" marB="171450" anchor="ctr">
                    <a:lnL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83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5265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Determinism</a:t>
                      </a:r>
                      <a:endParaRPr lang="en-US" sz="1100"/>
                    </a:p>
                  </a:txBody>
                  <a:tcPr marL="171450" marR="171450" marT="171450" marB="171450" anchor="ctr">
                    <a:lnL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6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PASS</a:t>
                      </a:r>
                      <a:endParaRPr lang="en-US" sz="1100"/>
                    </a:p>
                  </a:txBody>
                  <a:tcPr marL="171450" marR="171450" marT="171450" marB="171450" anchor="ctr">
                    <a:lnL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6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5265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Avalanche Effect</a:t>
                      </a:r>
                      <a:endParaRPr lang="en-US" sz="1100"/>
                    </a:p>
                  </a:txBody>
                  <a:tcPr marL="171450" marR="171450" marT="171450" marB="171450" anchor="ctr">
                    <a:lnL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6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PASS</a:t>
                      </a:r>
                      <a:endParaRPr lang="en-US" sz="1100"/>
                    </a:p>
                  </a:txBody>
                  <a:tcPr marL="171450" marR="171450" marT="171450" marB="171450" anchor="ctr">
                    <a:lnL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6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5265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Collision Resistance</a:t>
                      </a:r>
                      <a:endParaRPr lang="en-US" sz="1100"/>
                    </a:p>
                  </a:txBody>
                  <a:tcPr marL="171450" marR="171450" marT="171450" marB="171450" anchor="ctr">
                    <a:lnL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6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PASS</a:t>
                      </a:r>
                      <a:endParaRPr lang="en-US" sz="1100"/>
                    </a:p>
                  </a:txBody>
                  <a:tcPr marL="171450" marR="171450" marT="171450" marB="171450" anchor="ctr">
                    <a:lnL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6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5265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Fixed Output Length</a:t>
                      </a:r>
                      <a:endParaRPr lang="en-US" sz="1100"/>
                    </a:p>
                  </a:txBody>
                  <a:tcPr marL="171450" marR="171450" marT="171450" marB="171450" anchor="ctr">
                    <a:lnL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6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PASS</a:t>
                      </a:r>
                      <a:endParaRPr lang="en-US" sz="1100"/>
                    </a:p>
                  </a:txBody>
                  <a:tcPr marL="171450" marR="171450" marT="171450" marB="171450" anchor="ctr">
                    <a:lnL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6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85265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Performance</a:t>
                      </a:r>
                      <a:endParaRPr lang="en-US" sz="1100"/>
                    </a:p>
                  </a:txBody>
                  <a:tcPr marL="171450" marR="171450" marT="171450" marB="171450" anchor="ctr">
                    <a:lnL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6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PASS</a:t>
                      </a:r>
                      <a:endParaRPr lang="en-US" sz="1100"/>
                    </a:p>
                  </a:txBody>
                  <a:tcPr marL="171450" marR="171450" marT="171450" marB="171450" anchor="ctr">
                    <a:lnL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6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85265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Special Cases (Unicode)</a:t>
                      </a:r>
                      <a:endParaRPr lang="en-US" sz="1100"/>
                    </a:p>
                  </a:txBody>
                  <a:tcPr marL="171450" marR="171450" marT="171450" marB="171450" anchor="ctr">
                    <a:lnL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6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PASS</a:t>
                      </a:r>
                      <a:endParaRPr lang="en-US" sz="1100"/>
                    </a:p>
                  </a:txBody>
                  <a:tcPr marL="171450" marR="171450" marT="171450" marB="171450" anchor="ctr">
                    <a:lnL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6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27897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Incremental Hashing</a:t>
                      </a:r>
                      <a:endParaRPr lang="en-US" sz="1100"/>
                    </a:p>
                    <a:p>
                      <a:pPr algn="ctr">
                        <a:lnSpc>
                          <a:spcPts val="3359"/>
                        </a:lnSpc>
                      </a:pPr>
                      <a:endParaRPr lang="en-US" sz="1100"/>
                    </a:p>
                  </a:txBody>
                  <a:tcPr marL="171450" marR="171450" marT="171450" marB="171450" anchor="ctr">
                    <a:lnL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6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PASS</a:t>
                      </a:r>
                      <a:endParaRPr lang="en-US" sz="1100"/>
                    </a:p>
                  </a:txBody>
                  <a:tcPr marL="171450" marR="171450" marT="171450" marB="171450" anchor="ctr">
                    <a:lnL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6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70908">
                <a:alpha val="100000"/>
              </a:srgbClr>
            </a:gs>
            <a:gs pos="33333">
              <a:srgbClr val="29464A">
                <a:alpha val="100000"/>
              </a:srgbClr>
            </a:gs>
            <a:gs pos="66667">
              <a:srgbClr val="6D8080">
                <a:alpha val="100000"/>
              </a:srgbClr>
            </a:gs>
            <a:gs pos="100000">
              <a:srgbClr val="B9C8B6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87787" y="808862"/>
            <a:ext cx="15112426" cy="1981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00"/>
              </a:lnSpc>
            </a:pPr>
            <a:r>
              <a:rPr lang="en-US" sz="6500" spc="-273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CONCLUSION &amp; LEARNINGS</a:t>
            </a:r>
          </a:p>
          <a:p>
            <a:pPr marL="0" lvl="0" indent="0" algn="ctr">
              <a:lnSpc>
                <a:spcPts val="7800"/>
              </a:lnSpc>
              <a:spcBef>
                <a:spcPct val="0"/>
              </a:spcBef>
            </a:pPr>
            <a:endParaRPr lang="en-US" sz="6500" spc="-273">
              <a:solidFill>
                <a:srgbClr val="FFFFFF"/>
              </a:solidFill>
              <a:latin typeface="Glock Grotesk"/>
              <a:ea typeface="Glock Grotesk"/>
              <a:cs typeface="Glock Grotesk"/>
              <a:sym typeface="Glock Grotesk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324450" y="3703002"/>
            <a:ext cx="12661776" cy="2804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76" lvl="1" indent="-345438" algn="l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Why specific operations (XOR, rotation, addition) are chosen</a:t>
            </a:r>
          </a:p>
          <a:p>
            <a:pPr marL="690876" lvl="1" indent="-345438" algn="l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How avalanche effect is engineered, not accidental</a:t>
            </a:r>
          </a:p>
          <a:p>
            <a:pPr marL="690876" lvl="1" indent="-345438" algn="l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The complexity required for cryptographic security</a:t>
            </a:r>
          </a:p>
          <a:p>
            <a:pPr marL="690876" lvl="1" indent="-345438" algn="l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Why we DON'T roll our own crypto in production</a:t>
            </a:r>
          </a:p>
          <a:p>
            <a:pPr marL="690876" lvl="1" indent="-345438" algn="l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Importance of standardization and peer review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324450" y="2713862"/>
            <a:ext cx="4085750" cy="11188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 b="1" dirty="0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What I Learned</a:t>
            </a:r>
          </a:p>
          <a:p>
            <a:pPr algn="l">
              <a:lnSpc>
                <a:spcPts val="4479"/>
              </a:lnSpc>
            </a:pPr>
            <a:endParaRPr lang="en-US" sz="3199" b="1" dirty="0">
              <a:solidFill>
                <a:srgbClr val="FFFFFF"/>
              </a:solidFill>
              <a:latin typeface="Work Sans Bold"/>
              <a:ea typeface="Work Sans Bold"/>
              <a:cs typeface="Work Sans Bold"/>
              <a:sym typeface="Work Sans Bol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70908">
                <a:alpha val="100000"/>
              </a:srgbClr>
            </a:gs>
            <a:gs pos="33333">
              <a:srgbClr val="6D8080">
                <a:alpha val="100000"/>
              </a:srgbClr>
            </a:gs>
            <a:gs pos="66667">
              <a:srgbClr val="29464A">
                <a:alpha val="100000"/>
              </a:srgbClr>
            </a:gs>
            <a:gs pos="100000">
              <a:srgbClr val="BDCBBB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562596" y="3965583"/>
            <a:ext cx="11162807" cy="1774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4560"/>
              </a:lnSpc>
              <a:spcBef>
                <a:spcPct val="0"/>
              </a:spcBef>
            </a:pPr>
            <a:r>
              <a:rPr lang="en-US" sz="10400" spc="-436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904</Words>
  <Application>Microsoft Macintosh PowerPoint</Application>
  <PresentationFormat>Custom</PresentationFormat>
  <Paragraphs>199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Work Sans Bold</vt:lpstr>
      <vt:lpstr>Calibri</vt:lpstr>
      <vt:lpstr>Glock Grotesk</vt:lpstr>
      <vt:lpstr>Arial</vt:lpstr>
      <vt:lpstr>Work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Cybersecurity Seminar Slides</dc:title>
  <cp:lastModifiedBy>Naga Sri Harsha Vardhan Kanaparthi</cp:lastModifiedBy>
  <cp:revision>2</cp:revision>
  <dcterms:created xsi:type="dcterms:W3CDTF">2006-08-16T00:00:00Z</dcterms:created>
  <dcterms:modified xsi:type="dcterms:W3CDTF">2025-11-10T03:25:04Z</dcterms:modified>
  <dc:identifier>DAG4QLbDIX0</dc:identifier>
</cp:coreProperties>
</file>